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8" r:id="rId9"/>
    <p:sldId id="269" r:id="rId10"/>
    <p:sldId id="270" r:id="rId11"/>
    <p:sldId id="271" r:id="rId12"/>
    <p:sldId id="265" r:id="rId13"/>
  </p:sldIdLst>
  <p:sldSz cx="18288000" cy="10287000"/>
  <p:notesSz cx="6858000" cy="9144000"/>
  <p:embeddedFontLs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Bold" panose="00000800000000000000" charset="0"/>
      <p:regular r:id="rId22"/>
    </p:embeddedFont>
    <p:embeddedFont>
      <p:font typeface="Poppins Italics" panose="020B0604020202020204" charset="0"/>
      <p:regular r:id="rId23"/>
    </p:embeddedFont>
    <p:embeddedFont>
      <p:font typeface="Poppins Semi-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sv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3.svg"/><Relationship Id="rId12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15.png"/><Relationship Id="rId5" Type="http://schemas.openxmlformats.org/officeDocument/2006/relationships/image" Target="../media/image13.svg"/><Relationship Id="rId10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svg"/><Relationship Id="rId7" Type="http://schemas.openxmlformats.org/officeDocument/2006/relationships/image" Target="../media/image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9.svg"/><Relationship Id="rId7" Type="http://schemas.openxmlformats.org/officeDocument/2006/relationships/image" Target="../media/image6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6.sv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6.svg"/><Relationship Id="rId7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1.svg"/><Relationship Id="rId10" Type="http://schemas.openxmlformats.org/officeDocument/2006/relationships/image" Target="../media/image34.svg"/><Relationship Id="rId4" Type="http://schemas.openxmlformats.org/officeDocument/2006/relationships/image" Target="../media/image30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61419" y="2725120"/>
            <a:ext cx="13797470" cy="4836759"/>
            <a:chOff x="0" y="0"/>
            <a:chExt cx="3633902" cy="12738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33901" cy="1273879"/>
            </a:xfrm>
            <a:custGeom>
              <a:avLst/>
              <a:gdLst/>
              <a:ahLst/>
              <a:cxnLst/>
              <a:rect l="l" t="t" r="r" b="b"/>
              <a:pathLst>
                <a:path w="3633901" h="1273879">
                  <a:moveTo>
                    <a:pt x="0" y="0"/>
                  </a:moveTo>
                  <a:lnTo>
                    <a:pt x="3633901" y="0"/>
                  </a:lnTo>
                  <a:lnTo>
                    <a:pt x="3633901" y="1273879"/>
                  </a:lnTo>
                  <a:lnTo>
                    <a:pt x="0" y="1273879"/>
                  </a:lnTo>
                  <a:close/>
                </a:path>
              </a:pathLst>
            </a:custGeom>
            <a:solidFill>
              <a:srgbClr val="6AC4EA">
                <a:alpha val="3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633902" cy="13310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20746" y="2987000"/>
            <a:ext cx="13278815" cy="4313001"/>
            <a:chOff x="0" y="0"/>
            <a:chExt cx="3497301" cy="11359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97301" cy="1135934"/>
            </a:xfrm>
            <a:custGeom>
              <a:avLst/>
              <a:gdLst/>
              <a:ahLst/>
              <a:cxnLst/>
              <a:rect l="l" t="t" r="r" b="b"/>
              <a:pathLst>
                <a:path w="3497301" h="1135934">
                  <a:moveTo>
                    <a:pt x="0" y="0"/>
                  </a:moveTo>
                  <a:lnTo>
                    <a:pt x="3497301" y="0"/>
                  </a:lnTo>
                  <a:lnTo>
                    <a:pt x="3497301" y="1135934"/>
                  </a:lnTo>
                  <a:lnTo>
                    <a:pt x="0" y="1135934"/>
                  </a:lnTo>
                  <a:close/>
                </a:path>
              </a:pathLst>
            </a:custGeom>
            <a:solidFill>
              <a:srgbClr val="1D1D1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497301" cy="1193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16612535" y="695177"/>
            <a:ext cx="1675465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0" name="AutoShape 10"/>
          <p:cNvSpPr/>
          <p:nvPr/>
        </p:nvSpPr>
        <p:spPr>
          <a:xfrm>
            <a:off x="11703671" y="8594895"/>
            <a:ext cx="4355218" cy="0"/>
          </a:xfrm>
          <a:prstGeom prst="line">
            <a:avLst/>
          </a:prstGeom>
          <a:ln w="28575" cap="rnd">
            <a:solidFill>
              <a:srgbClr val="6AC4E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2261419" y="8594895"/>
            <a:ext cx="4355218" cy="0"/>
          </a:xfrm>
          <a:prstGeom prst="line">
            <a:avLst/>
          </a:prstGeom>
          <a:ln w="28575" cap="rnd">
            <a:solidFill>
              <a:srgbClr val="6AC4E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1028700" y="670229"/>
            <a:ext cx="501016" cy="483708"/>
          </a:xfrm>
          <a:custGeom>
            <a:avLst/>
            <a:gdLst/>
            <a:ahLst/>
            <a:cxnLst/>
            <a:rect l="l" t="t" r="r" b="b"/>
            <a:pathLst>
              <a:path w="501016" h="483708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718787" y="8442813"/>
            <a:ext cx="4850426" cy="32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4"/>
              </a:lnSpc>
            </a:pPr>
            <a:r>
              <a:rPr lang="en-US" sz="2100" spc="29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YNOV CAMPUS CASABLANCA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34454" y="3348934"/>
            <a:ext cx="6168665" cy="2094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170"/>
              </a:lnSpc>
            </a:pPr>
            <a:r>
              <a:rPr lang="en-US" sz="12264" b="1" dirty="0">
                <a:solidFill>
                  <a:srgbClr val="6AC4E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PROJET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55761" y="5805544"/>
            <a:ext cx="10376478" cy="34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SIMULATION D’UNE COURSE D’ATHLETISME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58885" y="195920"/>
            <a:ext cx="2090841" cy="40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20"/>
              </a:lnSpc>
            </a:pPr>
            <a:r>
              <a:rPr lang="en-US" sz="3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2025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10982" y="672465"/>
            <a:ext cx="3875417" cy="34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SITRAKA &amp; SAAD ZAHRANE</a:t>
            </a:r>
          </a:p>
        </p:txBody>
      </p:sp>
      <p:pic>
        <p:nvPicPr>
          <p:cNvPr id="23" name="Image 22" descr="Une image contenant cercle, Graphique&#10;&#10;Le contenu généré par l’IA peut être incorrect.">
            <a:extLst>
              <a:ext uri="{FF2B5EF4-FFF2-40B4-BE49-F238E27FC236}">
                <a16:creationId xmlns:a16="http://schemas.microsoft.com/office/drawing/2014/main" id="{D300C8B2-0F75-23DA-947C-D44258B09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373" y="2484176"/>
            <a:ext cx="4477528" cy="38241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47716" y="-846217"/>
            <a:ext cx="11793338" cy="7474028"/>
          </a:xfrm>
          <a:custGeom>
            <a:avLst/>
            <a:gdLst/>
            <a:ahLst/>
            <a:cxnLst/>
            <a:rect l="l" t="t" r="r" b="b"/>
            <a:pathLst>
              <a:path w="11793338" h="7474028">
                <a:moveTo>
                  <a:pt x="0" y="0"/>
                </a:moveTo>
                <a:lnTo>
                  <a:pt x="11793338" y="0"/>
                </a:lnTo>
                <a:lnTo>
                  <a:pt x="11793338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16612535" y="9941606"/>
            <a:ext cx="1675465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609600" y="1700079"/>
            <a:ext cx="9575594" cy="1759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sz="6500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SIMULATION D’UNE COURSE D’ATHLETISME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916400" y="9505030"/>
            <a:ext cx="2090841" cy="43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0983" y="672465"/>
            <a:ext cx="2744220" cy="35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YNOV CAMPUS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670229"/>
            <a:ext cx="501016" cy="483708"/>
          </a:xfrm>
          <a:custGeom>
            <a:avLst/>
            <a:gdLst/>
            <a:ahLst/>
            <a:cxnLst/>
            <a:rect l="l" t="t" r="r" b="b"/>
            <a:pathLst>
              <a:path w="501016" h="483708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5" name="Image 14" descr="Une image contenant Graphique, clipart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971AE91-97F3-74A0-0104-5C2F60D68A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5060" y="841598"/>
            <a:ext cx="6762940" cy="4741031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B14022A0-3C70-AA56-ACAB-17D65C685A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852" y="4249425"/>
            <a:ext cx="1207481" cy="104512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DA38C77-8766-A530-8044-4D78097741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434937"/>
            <a:ext cx="1170533" cy="85961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0B4CB4C9-DA52-0C22-996D-2714F8612399}"/>
              </a:ext>
            </a:extLst>
          </p:cNvPr>
          <p:cNvSpPr txBox="1"/>
          <p:nvPr/>
        </p:nvSpPr>
        <p:spPr>
          <a:xfrm>
            <a:off x="1827996" y="4374864"/>
            <a:ext cx="10772774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0" b="0" i="0" u="none" strike="noStrike" kern="1200" cap="none" spc="0" normalizeH="0" baseline="0" noProof="0" dirty="0">
                <a:ln>
                  <a:noFill/>
                </a:ln>
                <a:solidFill>
                  <a:srgbClr val="6AC4E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PRESENTATION DU PROJET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65C7DAB-3C38-E337-4F06-96B868A87D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852" y="6065388"/>
            <a:ext cx="1207113" cy="1048603"/>
          </a:xfrm>
          <a:prstGeom prst="rect">
            <a:avLst/>
          </a:prstGeom>
        </p:spPr>
      </p:pic>
      <p:sp>
        <p:nvSpPr>
          <p:cNvPr id="22" name="TextBox 30">
            <a:extLst>
              <a:ext uri="{FF2B5EF4-FFF2-40B4-BE49-F238E27FC236}">
                <a16:creationId xmlns:a16="http://schemas.microsoft.com/office/drawing/2014/main" id="{881673F3-C176-7917-47FC-4814CF6CC3F3}"/>
              </a:ext>
            </a:extLst>
          </p:cNvPr>
          <p:cNvSpPr txBox="1"/>
          <p:nvPr/>
        </p:nvSpPr>
        <p:spPr>
          <a:xfrm>
            <a:off x="617069" y="6444780"/>
            <a:ext cx="1172896" cy="46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sz="3193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504E3D1-98E4-D46B-E122-C2D6E290DAD2}"/>
              </a:ext>
            </a:extLst>
          </p:cNvPr>
          <p:cNvSpPr txBox="1"/>
          <p:nvPr/>
        </p:nvSpPr>
        <p:spPr>
          <a:xfrm>
            <a:off x="1826930" y="6084661"/>
            <a:ext cx="10774906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0" b="0" i="0" u="none" strike="noStrike" kern="1200" cap="none" spc="0" normalizeH="0" baseline="0" noProof="0" dirty="0">
                <a:ln>
                  <a:noFill/>
                </a:ln>
                <a:solidFill>
                  <a:srgbClr val="6AC4E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OBJECTIF DU PROJET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D3AEBA9E-2ACF-C3F6-36D3-CCF2FBD1BB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852" y="7880280"/>
            <a:ext cx="1207481" cy="1045123"/>
          </a:xfrm>
          <a:prstGeom prst="rect">
            <a:avLst/>
          </a:prstGeom>
        </p:spPr>
      </p:pic>
      <p:sp>
        <p:nvSpPr>
          <p:cNvPr id="26" name="TextBox 31">
            <a:extLst>
              <a:ext uri="{FF2B5EF4-FFF2-40B4-BE49-F238E27FC236}">
                <a16:creationId xmlns:a16="http://schemas.microsoft.com/office/drawing/2014/main" id="{BB61CA94-30FA-743A-6D98-4812737B45C4}"/>
              </a:ext>
            </a:extLst>
          </p:cNvPr>
          <p:cNvSpPr txBox="1"/>
          <p:nvPr/>
        </p:nvSpPr>
        <p:spPr>
          <a:xfrm>
            <a:off x="582852" y="8266438"/>
            <a:ext cx="1172896" cy="46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sz="3193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09D256-9D6C-82AF-8C46-2F7FE91BC098}"/>
              </a:ext>
            </a:extLst>
          </p:cNvPr>
          <p:cNvSpPr txBox="1"/>
          <p:nvPr/>
        </p:nvSpPr>
        <p:spPr>
          <a:xfrm>
            <a:off x="1827996" y="7880280"/>
            <a:ext cx="14097804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0" b="0" i="0" u="none" strike="noStrike" kern="1200" cap="none" spc="0" normalizeH="0" baseline="0" noProof="0" dirty="0">
                <a:ln>
                  <a:noFill/>
                </a:ln>
                <a:solidFill>
                  <a:srgbClr val="6AC4E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INTERACTION AVEC LA CONSOLE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3B6A9E59-2D47-778E-6C8B-796B26732A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02" y="3370162"/>
            <a:ext cx="9305998" cy="166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4" grpId="0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6130382" y="897816"/>
            <a:ext cx="11793338" cy="7474028"/>
          </a:xfrm>
          <a:custGeom>
            <a:avLst/>
            <a:gdLst/>
            <a:ahLst/>
            <a:cxnLst/>
            <a:rect l="l" t="t" r="r" b="b"/>
            <a:pathLst>
              <a:path w="11793338" h="7474028">
                <a:moveTo>
                  <a:pt x="11793339" y="0"/>
                </a:moveTo>
                <a:lnTo>
                  <a:pt x="0" y="0"/>
                </a:lnTo>
                <a:lnTo>
                  <a:pt x="0" y="7474029"/>
                </a:lnTo>
                <a:lnTo>
                  <a:pt x="11793339" y="7474029"/>
                </a:lnTo>
                <a:lnTo>
                  <a:pt x="11793339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6612535" y="9999411"/>
            <a:ext cx="1675465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028700" y="2702593"/>
            <a:ext cx="4494973" cy="3890195"/>
          </a:xfrm>
          <a:custGeom>
            <a:avLst/>
            <a:gdLst/>
            <a:ahLst/>
            <a:cxnLst/>
            <a:rect l="l" t="t" r="r" b="b"/>
            <a:pathLst>
              <a:path w="4494973" h="3890195">
                <a:moveTo>
                  <a:pt x="0" y="0"/>
                </a:moveTo>
                <a:lnTo>
                  <a:pt x="4494973" y="0"/>
                </a:lnTo>
                <a:lnTo>
                  <a:pt x="4494973" y="3890195"/>
                </a:lnTo>
                <a:lnTo>
                  <a:pt x="0" y="3890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46461" y="4676264"/>
            <a:ext cx="4494973" cy="3890195"/>
          </a:xfrm>
          <a:custGeom>
            <a:avLst/>
            <a:gdLst/>
            <a:ahLst/>
            <a:cxnLst/>
            <a:rect l="l" t="t" r="r" b="b"/>
            <a:pathLst>
              <a:path w="4494973" h="3890195">
                <a:moveTo>
                  <a:pt x="0" y="0"/>
                </a:moveTo>
                <a:lnTo>
                  <a:pt x="4494974" y="0"/>
                </a:lnTo>
                <a:lnTo>
                  <a:pt x="4494974" y="3890195"/>
                </a:lnTo>
                <a:lnTo>
                  <a:pt x="0" y="3890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6840200" y="9484042"/>
            <a:ext cx="2090841" cy="43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10983" y="672465"/>
            <a:ext cx="2744220" cy="35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YNOV CAMPUS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47624" y="856931"/>
            <a:ext cx="9998920" cy="88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sz="6500" dirty="0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Presentation du </a:t>
            </a:r>
            <a:r>
              <a:rPr lang="en-US" sz="6500" dirty="0" err="1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Projet</a:t>
            </a:r>
            <a:endParaRPr lang="en-US" sz="6500" dirty="0">
              <a:solidFill>
                <a:srgbClr val="6AC4E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028700" y="670229"/>
            <a:ext cx="501016" cy="483708"/>
          </a:xfrm>
          <a:custGeom>
            <a:avLst/>
            <a:gdLst/>
            <a:ahLst/>
            <a:cxnLst/>
            <a:rect l="l" t="t" r="r" b="b"/>
            <a:pathLst>
              <a:path w="501016" h="483708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16E6C1D-EC0A-5294-009C-D257AF6A5CA7}"/>
              </a:ext>
            </a:extLst>
          </p:cNvPr>
          <p:cNvSpPr txBox="1"/>
          <p:nvPr/>
        </p:nvSpPr>
        <p:spPr>
          <a:xfrm>
            <a:off x="8881931" y="2478958"/>
            <a:ext cx="8968432" cy="6122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C’est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programme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console interactive qui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permet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gerer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course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d’athletisme</a:t>
            </a:r>
            <a:r>
              <a:rPr lang="en-US" sz="4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ts val="6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L’utilisateur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peut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ajouter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leurs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classement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leurs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performance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et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rechercher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un participant via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leur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nom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leur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numero</a:t>
            </a:r>
            <a:r>
              <a:rPr lang="en-US" sz="4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A779139D-FBF8-EE36-E14A-860838A396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1714684"/>
            <a:ext cx="9296400" cy="166009"/>
          </a:xfrm>
          <a:prstGeom prst="rect">
            <a:avLst/>
          </a:prstGeom>
        </p:spPr>
      </p:pic>
      <p:pic>
        <p:nvPicPr>
          <p:cNvPr id="33" name="Image 32" descr="Une image contenant capture d’écran, Bleu électrique, Graphique, symbole&#10;&#10;Le contenu généré par l’IA peut être incorrect.">
            <a:extLst>
              <a:ext uri="{FF2B5EF4-FFF2-40B4-BE49-F238E27FC236}">
                <a16:creationId xmlns:a16="http://schemas.microsoft.com/office/drawing/2014/main" id="{56959117-7F21-6086-9EC1-4E795A1A84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056" y="3071492"/>
            <a:ext cx="3209544" cy="3209544"/>
          </a:xfrm>
          <a:prstGeom prst="rect">
            <a:avLst/>
          </a:prstGeom>
        </p:spPr>
      </p:pic>
      <p:pic>
        <p:nvPicPr>
          <p:cNvPr id="35" name="Image 34" descr="Une image contenant cercle, Graphique&#10;&#10;Le contenu généré par l’IA peut être incorrect.">
            <a:extLst>
              <a:ext uri="{FF2B5EF4-FFF2-40B4-BE49-F238E27FC236}">
                <a16:creationId xmlns:a16="http://schemas.microsoft.com/office/drawing/2014/main" id="{D72F663E-EF8A-2E28-524A-7D8A2AE326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078" y="4839453"/>
            <a:ext cx="3429000" cy="3429000"/>
          </a:xfrm>
          <a:prstGeom prst="rect">
            <a:avLst/>
          </a:prstGeom>
        </p:spPr>
      </p:pic>
      <p:sp>
        <p:nvSpPr>
          <p:cNvPr id="36" name="Freeform 5">
            <a:extLst>
              <a:ext uri="{FF2B5EF4-FFF2-40B4-BE49-F238E27FC236}">
                <a16:creationId xmlns:a16="http://schemas.microsoft.com/office/drawing/2014/main" id="{22E21CF0-722D-D735-C7A9-111A09D2A912}"/>
              </a:ext>
            </a:extLst>
          </p:cNvPr>
          <p:cNvSpPr/>
          <p:nvPr/>
        </p:nvSpPr>
        <p:spPr>
          <a:xfrm>
            <a:off x="197084" y="6645173"/>
            <a:ext cx="3541959" cy="788086"/>
          </a:xfrm>
          <a:custGeom>
            <a:avLst/>
            <a:gdLst/>
            <a:ahLst/>
            <a:cxnLst/>
            <a:rect l="l" t="t" r="r" b="b"/>
            <a:pathLst>
              <a:path w="3541959" h="788086">
                <a:moveTo>
                  <a:pt x="0" y="0"/>
                </a:moveTo>
                <a:lnTo>
                  <a:pt x="3541958" y="0"/>
                </a:lnTo>
                <a:lnTo>
                  <a:pt x="3541958" y="788085"/>
                </a:lnTo>
                <a:lnTo>
                  <a:pt x="0" y="7880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9E774D54-258C-73FE-4919-FA7ED1AB4B83}"/>
              </a:ext>
            </a:extLst>
          </p:cNvPr>
          <p:cNvSpPr txBox="1"/>
          <p:nvPr/>
        </p:nvSpPr>
        <p:spPr>
          <a:xfrm>
            <a:off x="53487" y="6926295"/>
            <a:ext cx="2921559" cy="31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2299" b="1" spc="63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“</a:t>
            </a:r>
            <a:r>
              <a:rPr lang="en-US" sz="2299" b="1" spc="63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VS_Code</a:t>
            </a:r>
            <a:r>
              <a:rPr lang="en-US" sz="2299" b="1" spc="63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”</a:t>
            </a:r>
          </a:p>
        </p:txBody>
      </p:sp>
      <p:sp>
        <p:nvSpPr>
          <p:cNvPr id="38" name="Freeform 8">
            <a:extLst>
              <a:ext uri="{FF2B5EF4-FFF2-40B4-BE49-F238E27FC236}">
                <a16:creationId xmlns:a16="http://schemas.microsoft.com/office/drawing/2014/main" id="{27995265-8CA1-D489-E337-88D4B07F0562}"/>
              </a:ext>
            </a:extLst>
          </p:cNvPr>
          <p:cNvSpPr/>
          <p:nvPr/>
        </p:nvSpPr>
        <p:spPr>
          <a:xfrm rot="10800000" flipV="1">
            <a:off x="6605420" y="8851390"/>
            <a:ext cx="3224379" cy="632652"/>
          </a:xfrm>
          <a:custGeom>
            <a:avLst/>
            <a:gdLst/>
            <a:ahLst/>
            <a:cxnLst/>
            <a:rect l="l" t="t" r="r" b="b"/>
            <a:pathLst>
              <a:path w="2843379" h="632652">
                <a:moveTo>
                  <a:pt x="0" y="632651"/>
                </a:moveTo>
                <a:lnTo>
                  <a:pt x="2843379" y="632651"/>
                </a:lnTo>
                <a:lnTo>
                  <a:pt x="2843379" y="0"/>
                </a:lnTo>
                <a:lnTo>
                  <a:pt x="0" y="0"/>
                </a:lnTo>
                <a:lnTo>
                  <a:pt x="0" y="632651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17">
            <a:extLst>
              <a:ext uri="{FF2B5EF4-FFF2-40B4-BE49-F238E27FC236}">
                <a16:creationId xmlns:a16="http://schemas.microsoft.com/office/drawing/2014/main" id="{BD67FC0F-0AC0-C605-EF7D-AB34D100E018}"/>
              </a:ext>
            </a:extLst>
          </p:cNvPr>
          <p:cNvSpPr txBox="1"/>
          <p:nvPr/>
        </p:nvSpPr>
        <p:spPr>
          <a:xfrm>
            <a:off x="7020762" y="8986923"/>
            <a:ext cx="2921559" cy="31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2299" b="1" spc="63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“</a:t>
            </a:r>
            <a:r>
              <a:rPr lang="en-US" sz="2299" b="1" spc="63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GoLang</a:t>
            </a:r>
            <a:r>
              <a:rPr lang="en-US" sz="2299" b="1" spc="63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86975" y="-110073"/>
            <a:ext cx="12140609" cy="10507146"/>
          </a:xfrm>
          <a:custGeom>
            <a:avLst/>
            <a:gdLst/>
            <a:ahLst/>
            <a:cxnLst/>
            <a:rect l="l" t="t" r="r" b="b"/>
            <a:pathLst>
              <a:path w="12140609" h="10507146">
                <a:moveTo>
                  <a:pt x="0" y="0"/>
                </a:moveTo>
                <a:lnTo>
                  <a:pt x="12140609" y="0"/>
                </a:lnTo>
                <a:lnTo>
                  <a:pt x="12140609" y="10507146"/>
                </a:lnTo>
                <a:lnTo>
                  <a:pt x="0" y="10507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58875" y="1601141"/>
            <a:ext cx="9128100" cy="6503863"/>
          </a:xfrm>
          <a:custGeom>
            <a:avLst/>
            <a:gdLst/>
            <a:ahLst/>
            <a:cxnLst/>
            <a:rect l="l" t="t" r="r" b="b"/>
            <a:pathLst>
              <a:path w="11793338" h="7474028">
                <a:moveTo>
                  <a:pt x="0" y="0"/>
                </a:moveTo>
                <a:lnTo>
                  <a:pt x="11793338" y="0"/>
                </a:lnTo>
                <a:lnTo>
                  <a:pt x="11793338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92740" y="2040126"/>
            <a:ext cx="9926521" cy="88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sz="6500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OBJECTIF DU PROJET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10983" y="672465"/>
            <a:ext cx="2744220" cy="35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YNOV CAMPUS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44003" y="8132939"/>
            <a:ext cx="10428617" cy="80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Et de </a:t>
            </a:r>
            <a:r>
              <a:rPr lang="en-US" sz="3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montrer</a:t>
            </a: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quel</a:t>
            </a: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type de </a:t>
            </a:r>
            <a:r>
              <a:rPr lang="en-US" sz="3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</a:t>
            </a: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peut</a:t>
            </a: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on </a:t>
            </a:r>
            <a:r>
              <a:rPr lang="en-US" sz="3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realiser</a:t>
            </a: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avec les types de </a:t>
            </a:r>
            <a:r>
              <a:rPr lang="en-US" sz="3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langage</a:t>
            </a: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3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programmation</a:t>
            </a:r>
            <a:endParaRPr lang="en-US" sz="30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028700" y="670229"/>
            <a:ext cx="501016" cy="483708"/>
          </a:xfrm>
          <a:custGeom>
            <a:avLst/>
            <a:gdLst/>
            <a:ahLst/>
            <a:cxnLst/>
            <a:rect l="l" t="t" r="r" b="b"/>
            <a:pathLst>
              <a:path w="501016" h="483708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8">
            <a:extLst>
              <a:ext uri="{FF2B5EF4-FFF2-40B4-BE49-F238E27FC236}">
                <a16:creationId xmlns:a16="http://schemas.microsoft.com/office/drawing/2014/main" id="{0D442718-C4F9-4E61-E428-593C6CFA3A3B}"/>
              </a:ext>
            </a:extLst>
          </p:cNvPr>
          <p:cNvGrpSpPr/>
          <p:nvPr/>
        </p:nvGrpSpPr>
        <p:grpSpPr>
          <a:xfrm>
            <a:off x="331863" y="3793694"/>
            <a:ext cx="976958" cy="846002"/>
            <a:chOff x="0" y="0"/>
            <a:chExt cx="4282440" cy="3708400"/>
          </a:xfrm>
        </p:grpSpPr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EC235CAB-CFF5-E58C-D56F-8B5B588A2881}"/>
                </a:ext>
              </a:extLst>
            </p:cNvPr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TextBox 29">
            <a:extLst>
              <a:ext uri="{FF2B5EF4-FFF2-40B4-BE49-F238E27FC236}">
                <a16:creationId xmlns:a16="http://schemas.microsoft.com/office/drawing/2014/main" id="{302999A7-B15C-0BB1-1E6B-E842E3532C91}"/>
              </a:ext>
            </a:extLst>
          </p:cNvPr>
          <p:cNvSpPr txBox="1"/>
          <p:nvPr/>
        </p:nvSpPr>
        <p:spPr>
          <a:xfrm>
            <a:off x="219147" y="4045970"/>
            <a:ext cx="1172896" cy="46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sz="3193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grpSp>
        <p:nvGrpSpPr>
          <p:cNvPr id="20" name="Group 8">
            <a:extLst>
              <a:ext uri="{FF2B5EF4-FFF2-40B4-BE49-F238E27FC236}">
                <a16:creationId xmlns:a16="http://schemas.microsoft.com/office/drawing/2014/main" id="{C9409C16-3D8B-2D83-84D0-2A586CFADF40}"/>
              </a:ext>
            </a:extLst>
          </p:cNvPr>
          <p:cNvGrpSpPr/>
          <p:nvPr/>
        </p:nvGrpSpPr>
        <p:grpSpPr>
          <a:xfrm>
            <a:off x="359048" y="5142015"/>
            <a:ext cx="976958" cy="846002"/>
            <a:chOff x="0" y="0"/>
            <a:chExt cx="4282440" cy="3708400"/>
          </a:xfrm>
        </p:grpSpPr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761A4EA8-BFAF-0D34-F7C3-056DFA24AD06}"/>
                </a:ext>
              </a:extLst>
            </p:cNvPr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2" name="Group 8">
            <a:extLst>
              <a:ext uri="{FF2B5EF4-FFF2-40B4-BE49-F238E27FC236}">
                <a16:creationId xmlns:a16="http://schemas.microsoft.com/office/drawing/2014/main" id="{6AD28A0B-75EF-D754-0C2E-8EE677CBAE6F}"/>
              </a:ext>
            </a:extLst>
          </p:cNvPr>
          <p:cNvGrpSpPr/>
          <p:nvPr/>
        </p:nvGrpSpPr>
        <p:grpSpPr>
          <a:xfrm>
            <a:off x="373335" y="6651572"/>
            <a:ext cx="976958" cy="846002"/>
            <a:chOff x="0" y="0"/>
            <a:chExt cx="4282440" cy="3708400"/>
          </a:xfrm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79D82A42-7CCD-526C-03DF-9CBE19A67611}"/>
                </a:ext>
              </a:extLst>
            </p:cNvPr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4" name="Group 8">
            <a:extLst>
              <a:ext uri="{FF2B5EF4-FFF2-40B4-BE49-F238E27FC236}">
                <a16:creationId xmlns:a16="http://schemas.microsoft.com/office/drawing/2014/main" id="{11B5C6D0-3451-492E-E889-DF5C7D59AFB2}"/>
              </a:ext>
            </a:extLst>
          </p:cNvPr>
          <p:cNvGrpSpPr/>
          <p:nvPr/>
        </p:nvGrpSpPr>
        <p:grpSpPr>
          <a:xfrm>
            <a:off x="359048" y="7982035"/>
            <a:ext cx="976958" cy="846002"/>
            <a:chOff x="0" y="0"/>
            <a:chExt cx="4282440" cy="3708400"/>
          </a:xfrm>
        </p:grpSpPr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D74B14C0-B4F7-0F70-C748-73A643B56A34}"/>
                </a:ext>
              </a:extLst>
            </p:cNvPr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6" name="TextBox 30">
            <a:extLst>
              <a:ext uri="{FF2B5EF4-FFF2-40B4-BE49-F238E27FC236}">
                <a16:creationId xmlns:a16="http://schemas.microsoft.com/office/drawing/2014/main" id="{18756656-E980-F602-6E73-F0F2ED2D114F}"/>
              </a:ext>
            </a:extLst>
          </p:cNvPr>
          <p:cNvSpPr txBox="1"/>
          <p:nvPr/>
        </p:nvSpPr>
        <p:spPr>
          <a:xfrm>
            <a:off x="261079" y="5362425"/>
            <a:ext cx="1172896" cy="46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sz="3193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28" name="TextBox 31">
            <a:extLst>
              <a:ext uri="{FF2B5EF4-FFF2-40B4-BE49-F238E27FC236}">
                <a16:creationId xmlns:a16="http://schemas.microsoft.com/office/drawing/2014/main" id="{29F320CF-8B64-08A8-4F9A-27152CDF853E}"/>
              </a:ext>
            </a:extLst>
          </p:cNvPr>
          <p:cNvSpPr txBox="1"/>
          <p:nvPr/>
        </p:nvSpPr>
        <p:spPr>
          <a:xfrm>
            <a:off x="275366" y="6912154"/>
            <a:ext cx="1172896" cy="46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sz="3193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8491753E-939F-C92F-FDB9-FEB0F7D948CB}"/>
              </a:ext>
            </a:extLst>
          </p:cNvPr>
          <p:cNvSpPr txBox="1"/>
          <p:nvPr/>
        </p:nvSpPr>
        <p:spPr>
          <a:xfrm>
            <a:off x="1610983" y="4074317"/>
            <a:ext cx="8066417" cy="405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Créer</a:t>
            </a: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application interactive </a:t>
            </a:r>
            <a:r>
              <a:rPr lang="en-US" sz="3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Go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88F51272-9599-11FD-E5A6-37DBE4D05AA2}"/>
              </a:ext>
            </a:extLst>
          </p:cNvPr>
          <p:cNvSpPr txBox="1"/>
          <p:nvPr/>
        </p:nvSpPr>
        <p:spPr>
          <a:xfrm>
            <a:off x="1642567" y="5362425"/>
            <a:ext cx="7612122" cy="405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 </a:t>
            </a:r>
            <a:r>
              <a:rPr lang="en-US" sz="3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maitriser</a:t>
            </a: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le </a:t>
            </a:r>
            <a:r>
              <a:rPr lang="en-US" sz="3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langage</a:t>
            </a: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Go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D072E73E-7AC8-B3EF-4225-AEF3C6188B80}"/>
              </a:ext>
            </a:extLst>
          </p:cNvPr>
          <p:cNvSpPr txBox="1"/>
          <p:nvPr/>
        </p:nvSpPr>
        <p:spPr>
          <a:xfrm>
            <a:off x="1585887" y="6742482"/>
            <a:ext cx="9128100" cy="80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Permettre</a:t>
            </a: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nous les </a:t>
            </a:r>
            <a:r>
              <a:rPr lang="en-US" sz="3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eleves</a:t>
            </a: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savoir la base de la </a:t>
            </a:r>
            <a:r>
              <a:rPr lang="en-US" sz="3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programmation</a:t>
            </a:r>
            <a:endParaRPr lang="en-US" sz="30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BF4BAAB0-A737-0571-87F1-B43220B69D8D}"/>
              </a:ext>
            </a:extLst>
          </p:cNvPr>
          <p:cNvSpPr txBox="1"/>
          <p:nvPr/>
        </p:nvSpPr>
        <p:spPr>
          <a:xfrm>
            <a:off x="275366" y="8209502"/>
            <a:ext cx="1172896" cy="46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sz="3193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9585DDEC-E809-771B-E1B9-3424647CAC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015" y="1476101"/>
            <a:ext cx="10445682" cy="6924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6" grpId="0"/>
      <p:bldP spid="28" grpId="0"/>
      <p:bldP spid="29" grpId="0"/>
      <p:bldP spid="30" grpId="0"/>
      <p:bldP spid="31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51811" y="1810916"/>
            <a:ext cx="8047169" cy="6964459"/>
          </a:xfrm>
          <a:custGeom>
            <a:avLst/>
            <a:gdLst/>
            <a:ahLst/>
            <a:cxnLst/>
            <a:rect l="l" t="t" r="r" b="b"/>
            <a:pathLst>
              <a:path w="8047169" h="6964459">
                <a:moveTo>
                  <a:pt x="0" y="0"/>
                </a:moveTo>
                <a:lnTo>
                  <a:pt x="8047170" y="0"/>
                </a:lnTo>
                <a:lnTo>
                  <a:pt x="8047170" y="6964459"/>
                </a:lnTo>
                <a:lnTo>
                  <a:pt x="0" y="69644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586190" y="7785325"/>
            <a:ext cx="3541959" cy="788086"/>
          </a:xfrm>
          <a:custGeom>
            <a:avLst/>
            <a:gdLst/>
            <a:ahLst/>
            <a:cxnLst/>
            <a:rect l="l" t="t" r="r" b="b"/>
            <a:pathLst>
              <a:path w="3541959" h="788086">
                <a:moveTo>
                  <a:pt x="0" y="0"/>
                </a:moveTo>
                <a:lnTo>
                  <a:pt x="3541958" y="0"/>
                </a:lnTo>
                <a:lnTo>
                  <a:pt x="3541958" y="788085"/>
                </a:lnTo>
                <a:lnTo>
                  <a:pt x="0" y="7880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431515" y="-3106882"/>
            <a:ext cx="11793338" cy="7474028"/>
          </a:xfrm>
          <a:custGeom>
            <a:avLst/>
            <a:gdLst/>
            <a:ahLst/>
            <a:cxnLst/>
            <a:rect l="l" t="t" r="r" b="b"/>
            <a:pathLst>
              <a:path w="11793338" h="7474028">
                <a:moveTo>
                  <a:pt x="0" y="0"/>
                </a:moveTo>
                <a:lnTo>
                  <a:pt x="11793338" y="0"/>
                </a:lnTo>
                <a:lnTo>
                  <a:pt x="11793338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7159852" y="2664880"/>
            <a:ext cx="3968297" cy="882946"/>
          </a:xfrm>
          <a:custGeom>
            <a:avLst/>
            <a:gdLst/>
            <a:ahLst/>
            <a:cxnLst/>
            <a:rect l="l" t="t" r="r" b="b"/>
            <a:pathLst>
              <a:path w="3968297" h="882946">
                <a:moveTo>
                  <a:pt x="0" y="882946"/>
                </a:moveTo>
                <a:lnTo>
                  <a:pt x="3968296" y="882946"/>
                </a:lnTo>
                <a:lnTo>
                  <a:pt x="3968296" y="0"/>
                </a:lnTo>
                <a:lnTo>
                  <a:pt x="0" y="0"/>
                </a:lnTo>
                <a:lnTo>
                  <a:pt x="0" y="88294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14568821" y="6954550"/>
            <a:ext cx="2843379" cy="632652"/>
          </a:xfrm>
          <a:custGeom>
            <a:avLst/>
            <a:gdLst/>
            <a:ahLst/>
            <a:cxnLst/>
            <a:rect l="l" t="t" r="r" b="b"/>
            <a:pathLst>
              <a:path w="2843379" h="632652">
                <a:moveTo>
                  <a:pt x="0" y="632651"/>
                </a:moveTo>
                <a:lnTo>
                  <a:pt x="2843379" y="632651"/>
                </a:lnTo>
                <a:lnTo>
                  <a:pt x="2843379" y="0"/>
                </a:lnTo>
                <a:lnTo>
                  <a:pt x="0" y="0"/>
                </a:lnTo>
                <a:lnTo>
                  <a:pt x="0" y="63265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00933" y="1365879"/>
            <a:ext cx="8653156" cy="1759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sz="6500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INTERACTION AVEC LA CONSOLE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3285" y="4266773"/>
            <a:ext cx="2982609" cy="1461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L’import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“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fmt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”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formater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et a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afficher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notre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text a la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facon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qu’on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aime</a:t>
            </a:r>
            <a:endParaRPr lang="en-US" sz="2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542766" y="5704543"/>
            <a:ext cx="2982609" cy="1833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L’import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“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os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” nous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permet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sauvegarder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notre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dans le format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qu’on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veut</a:t>
            </a:r>
            <a:endParaRPr lang="en-US" sz="2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69350" y="3617991"/>
            <a:ext cx="2982609" cy="31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“</a:t>
            </a: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fmt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79737" y="5231939"/>
            <a:ext cx="2406453" cy="31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“OS”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68741" y="2189519"/>
            <a:ext cx="2406453" cy="31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2299" b="1" spc="259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“</a:t>
            </a:r>
            <a:r>
              <a:rPr lang="en-US" sz="2299" b="1" spc="259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fmt</a:t>
            </a:r>
            <a:r>
              <a:rPr lang="en-US" sz="2299" b="1" spc="259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50863" y="8036937"/>
            <a:ext cx="2406453" cy="31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2299" b="1" spc="63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“</a:t>
            </a:r>
            <a:r>
              <a:rPr lang="en-US" sz="2299" b="1" spc="63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Strconv</a:t>
            </a:r>
            <a:r>
              <a:rPr lang="en-US" sz="2299" b="1" spc="63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10983" y="672465"/>
            <a:ext cx="2744220" cy="35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YNOV CAMPUS</a:t>
            </a:r>
          </a:p>
        </p:txBody>
      </p:sp>
      <p:sp>
        <p:nvSpPr>
          <p:cNvPr id="19" name="AutoShape 19"/>
          <p:cNvSpPr/>
          <p:nvPr/>
        </p:nvSpPr>
        <p:spPr>
          <a:xfrm>
            <a:off x="16612535" y="9791700"/>
            <a:ext cx="1675465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16840200" y="9239217"/>
            <a:ext cx="2090841" cy="43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5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28700" y="670229"/>
            <a:ext cx="501016" cy="483708"/>
          </a:xfrm>
          <a:custGeom>
            <a:avLst/>
            <a:gdLst/>
            <a:ahLst/>
            <a:cxnLst/>
            <a:rect l="l" t="t" r="r" b="b"/>
            <a:pathLst>
              <a:path w="501016" h="483708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54FEE624-1C2E-7102-112E-2BA9807BB288}"/>
              </a:ext>
            </a:extLst>
          </p:cNvPr>
          <p:cNvSpPr txBox="1"/>
          <p:nvPr/>
        </p:nvSpPr>
        <p:spPr>
          <a:xfrm>
            <a:off x="15375597" y="6938963"/>
            <a:ext cx="2406453" cy="31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2299" b="1" spc="63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“OS”</a:t>
            </a:r>
          </a:p>
        </p:txBody>
      </p:sp>
      <p:pic>
        <p:nvPicPr>
          <p:cNvPr id="24" name="Image 23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D9EF193A-16A2-DB5C-0E46-61C1DEAAD7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710" y="3310934"/>
            <a:ext cx="4618771" cy="4020041"/>
          </a:xfrm>
          <a:prstGeom prst="rect">
            <a:avLst/>
          </a:prstGeom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65FF0621-4B30-50E2-E0C5-0AEA71513F6F}"/>
              </a:ext>
            </a:extLst>
          </p:cNvPr>
          <p:cNvSpPr txBox="1"/>
          <p:nvPr/>
        </p:nvSpPr>
        <p:spPr>
          <a:xfrm>
            <a:off x="796581" y="7252465"/>
            <a:ext cx="2406453" cy="31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“</a:t>
            </a: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Strconv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”</a:t>
            </a: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5A380EB4-C929-6C33-C9B8-881516D77EF6}"/>
              </a:ext>
            </a:extLst>
          </p:cNvPr>
          <p:cNvSpPr txBox="1"/>
          <p:nvPr/>
        </p:nvSpPr>
        <p:spPr>
          <a:xfrm>
            <a:off x="483285" y="7759802"/>
            <a:ext cx="2982609" cy="2204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L’import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“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strconv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” nous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permet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convertir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notre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resultat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la manière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qu’on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veut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 entire , reel ,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chaine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…..)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7" grpId="0"/>
      <p:bldP spid="22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H="1">
            <a:off x="2540975" y="1673322"/>
            <a:ext cx="11793338" cy="7474028"/>
          </a:xfrm>
          <a:custGeom>
            <a:avLst/>
            <a:gdLst/>
            <a:ahLst/>
            <a:cxnLst/>
            <a:rect l="l" t="t" r="r" b="b"/>
            <a:pathLst>
              <a:path w="11793338" h="7474028">
                <a:moveTo>
                  <a:pt x="11793339" y="0"/>
                </a:moveTo>
                <a:lnTo>
                  <a:pt x="0" y="0"/>
                </a:lnTo>
                <a:lnTo>
                  <a:pt x="0" y="7474029"/>
                </a:lnTo>
                <a:lnTo>
                  <a:pt x="11793339" y="7474029"/>
                </a:lnTo>
                <a:lnTo>
                  <a:pt x="11793339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19">
            <a:extLst>
              <a:ext uri="{FF2B5EF4-FFF2-40B4-BE49-F238E27FC236}">
                <a16:creationId xmlns:a16="http://schemas.microsoft.com/office/drawing/2014/main" id="{8FF69AFF-7101-55B7-3D28-9D9B7878BA11}"/>
              </a:ext>
            </a:extLst>
          </p:cNvPr>
          <p:cNvGrpSpPr/>
          <p:nvPr/>
        </p:nvGrpSpPr>
        <p:grpSpPr>
          <a:xfrm>
            <a:off x="286618" y="2621854"/>
            <a:ext cx="10316962" cy="2020422"/>
            <a:chOff x="0" y="0"/>
            <a:chExt cx="812800" cy="532128"/>
          </a:xfrm>
        </p:grpSpPr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CEF62D0-E788-23A0-E254-F032CCE6BCBB}"/>
                </a:ext>
              </a:extLst>
            </p:cNvPr>
            <p:cNvSpPr/>
            <p:nvPr/>
          </p:nvSpPr>
          <p:spPr>
            <a:xfrm>
              <a:off x="0" y="0"/>
              <a:ext cx="812800" cy="532128"/>
            </a:xfrm>
            <a:custGeom>
              <a:avLst/>
              <a:gdLst/>
              <a:ahLst/>
              <a:cxnLst/>
              <a:rect l="l" t="t" r="r" b="b"/>
              <a:pathLst>
                <a:path w="812800" h="532128">
                  <a:moveTo>
                    <a:pt x="0" y="0"/>
                  </a:moveTo>
                  <a:lnTo>
                    <a:pt x="812800" y="0"/>
                  </a:lnTo>
                  <a:lnTo>
                    <a:pt x="812800" y="532128"/>
                  </a:lnTo>
                  <a:lnTo>
                    <a:pt x="0" y="532128"/>
                  </a:lnTo>
                  <a:close/>
                </a:path>
              </a:pathLst>
            </a:custGeom>
            <a:solidFill>
              <a:srgbClr val="6AC4EA"/>
            </a:solidFill>
          </p:spPr>
        </p:sp>
        <p:sp>
          <p:nvSpPr>
            <p:cNvPr id="27" name="TextBox 21">
              <a:extLst>
                <a:ext uri="{FF2B5EF4-FFF2-40B4-BE49-F238E27FC236}">
                  <a16:creationId xmlns:a16="http://schemas.microsoft.com/office/drawing/2014/main" id="{D3499F00-CBE7-B6A8-4D61-6D195DFB17B2}"/>
                </a:ext>
              </a:extLst>
            </p:cNvPr>
            <p:cNvSpPr txBox="1"/>
            <p:nvPr/>
          </p:nvSpPr>
          <p:spPr>
            <a:xfrm>
              <a:off x="0" y="28575"/>
              <a:ext cx="812800" cy="503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1"/>
                </a:lnSpc>
              </a:pPr>
              <a:endParaRPr/>
            </a:p>
          </p:txBody>
        </p:sp>
      </p:grpSp>
      <p:grpSp>
        <p:nvGrpSpPr>
          <p:cNvPr id="21" name="Group 19">
            <a:extLst>
              <a:ext uri="{FF2B5EF4-FFF2-40B4-BE49-F238E27FC236}">
                <a16:creationId xmlns:a16="http://schemas.microsoft.com/office/drawing/2014/main" id="{791E9DAE-4A0E-6A19-A022-37123D87FDC1}"/>
              </a:ext>
            </a:extLst>
          </p:cNvPr>
          <p:cNvGrpSpPr/>
          <p:nvPr/>
        </p:nvGrpSpPr>
        <p:grpSpPr>
          <a:xfrm>
            <a:off x="252818" y="6425502"/>
            <a:ext cx="13158381" cy="2020422"/>
            <a:chOff x="0" y="0"/>
            <a:chExt cx="812800" cy="532128"/>
          </a:xfrm>
        </p:grpSpPr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A1F595A0-D6F6-2637-96B5-76B512FC6860}"/>
                </a:ext>
              </a:extLst>
            </p:cNvPr>
            <p:cNvSpPr/>
            <p:nvPr/>
          </p:nvSpPr>
          <p:spPr>
            <a:xfrm>
              <a:off x="0" y="0"/>
              <a:ext cx="812800" cy="532128"/>
            </a:xfrm>
            <a:custGeom>
              <a:avLst/>
              <a:gdLst/>
              <a:ahLst/>
              <a:cxnLst/>
              <a:rect l="l" t="t" r="r" b="b"/>
              <a:pathLst>
                <a:path w="812800" h="532128">
                  <a:moveTo>
                    <a:pt x="0" y="0"/>
                  </a:moveTo>
                  <a:lnTo>
                    <a:pt x="812800" y="0"/>
                  </a:lnTo>
                  <a:lnTo>
                    <a:pt x="812800" y="532128"/>
                  </a:lnTo>
                  <a:lnTo>
                    <a:pt x="0" y="532128"/>
                  </a:lnTo>
                  <a:close/>
                </a:path>
              </a:pathLst>
            </a:custGeom>
            <a:solidFill>
              <a:srgbClr val="6AC4EA"/>
            </a:solidFill>
          </p:spPr>
        </p:sp>
        <p:sp>
          <p:nvSpPr>
            <p:cNvPr id="23" name="TextBox 21">
              <a:extLst>
                <a:ext uri="{FF2B5EF4-FFF2-40B4-BE49-F238E27FC236}">
                  <a16:creationId xmlns:a16="http://schemas.microsoft.com/office/drawing/2014/main" id="{1F4459A4-B0C9-5506-F963-79167384E983}"/>
                </a:ext>
              </a:extLst>
            </p:cNvPr>
            <p:cNvSpPr txBox="1"/>
            <p:nvPr/>
          </p:nvSpPr>
          <p:spPr>
            <a:xfrm>
              <a:off x="0" y="28575"/>
              <a:ext cx="812800" cy="503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1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1792207" y="2711756"/>
            <a:ext cx="1511284" cy="21867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855096" y="9278237"/>
            <a:ext cx="2090841" cy="43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0983" y="672465"/>
            <a:ext cx="2744220" cy="35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YNOV CAMPUS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00600" y="342504"/>
            <a:ext cx="9753599" cy="88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sz="6500" dirty="0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Element$ du </a:t>
            </a:r>
            <a:r>
              <a:rPr lang="en-US" sz="6500" dirty="0" err="1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projet</a:t>
            </a:r>
            <a:endParaRPr lang="en-US" sz="6500" dirty="0">
              <a:solidFill>
                <a:srgbClr val="6AC4E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352192" y="2857721"/>
            <a:ext cx="5907093" cy="1461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Cette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structure de type Athletes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composée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3 elements (nom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complet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,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dossard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et temps) avec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laquelle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on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les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attribuer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tout au long du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programme</a:t>
            </a:r>
            <a:endParaRPr lang="en-US" sz="2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698362" y="6646195"/>
            <a:ext cx="4160607" cy="22049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Constituer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d’un constant MAX_ATHLETE de Valeur 10 , d’un tableau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statique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comme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Valeur MAX_ATHLETE et d’un variable entire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nombre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athletes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92206" y="2358250"/>
            <a:ext cx="3566204" cy="31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334313" y="5983727"/>
            <a:ext cx="3566204" cy="31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Variable </a:t>
            </a: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Globale</a:t>
            </a:r>
            <a:endParaRPr lang="en-US" sz="2299" b="1" dirty="0">
              <a:solidFill>
                <a:srgbClr val="6AC4EA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028700" y="670229"/>
            <a:ext cx="501016" cy="483708"/>
          </a:xfrm>
          <a:custGeom>
            <a:avLst/>
            <a:gdLst/>
            <a:ahLst/>
            <a:cxnLst/>
            <a:rect l="l" t="t" r="r" b="b"/>
            <a:pathLst>
              <a:path w="501016" h="483708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0" name="Image 19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3BB87B4F-1B46-DC3A-0E2F-3BCEFB4914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19" y="2857721"/>
            <a:ext cx="9935962" cy="1428949"/>
          </a:xfrm>
          <a:prstGeom prst="rect">
            <a:avLst/>
          </a:prstGeom>
        </p:spPr>
      </p:pic>
      <p:sp>
        <p:nvSpPr>
          <p:cNvPr id="24" name="Freeform 5">
            <a:extLst>
              <a:ext uri="{FF2B5EF4-FFF2-40B4-BE49-F238E27FC236}">
                <a16:creationId xmlns:a16="http://schemas.microsoft.com/office/drawing/2014/main" id="{4E7C8EFE-06CA-1A4E-FCF3-E43695E7E917}"/>
              </a:ext>
            </a:extLst>
          </p:cNvPr>
          <p:cNvSpPr/>
          <p:nvPr/>
        </p:nvSpPr>
        <p:spPr>
          <a:xfrm>
            <a:off x="7810233" y="2601431"/>
            <a:ext cx="3541959" cy="788086"/>
          </a:xfrm>
          <a:custGeom>
            <a:avLst/>
            <a:gdLst/>
            <a:ahLst/>
            <a:cxnLst/>
            <a:rect l="l" t="t" r="r" b="b"/>
            <a:pathLst>
              <a:path w="3541959" h="788086">
                <a:moveTo>
                  <a:pt x="0" y="0"/>
                </a:moveTo>
                <a:lnTo>
                  <a:pt x="3541958" y="0"/>
                </a:lnTo>
                <a:lnTo>
                  <a:pt x="3541958" y="788085"/>
                </a:lnTo>
                <a:lnTo>
                  <a:pt x="0" y="7880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4B105A65-2287-BE30-BC85-C02035DCCB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31" y="6795789"/>
            <a:ext cx="12851018" cy="1314633"/>
          </a:xfrm>
          <a:prstGeom prst="rect">
            <a:avLst/>
          </a:prstGeom>
        </p:spPr>
      </p:pic>
      <p:sp>
        <p:nvSpPr>
          <p:cNvPr id="30" name="Freeform 5">
            <a:extLst>
              <a:ext uri="{FF2B5EF4-FFF2-40B4-BE49-F238E27FC236}">
                <a16:creationId xmlns:a16="http://schemas.microsoft.com/office/drawing/2014/main" id="{0E7A3505-B203-8BDE-15B1-8AAD1F46E200}"/>
              </a:ext>
            </a:extLst>
          </p:cNvPr>
          <p:cNvSpPr/>
          <p:nvPr/>
        </p:nvSpPr>
        <p:spPr>
          <a:xfrm>
            <a:off x="10156403" y="6566789"/>
            <a:ext cx="3541959" cy="788086"/>
          </a:xfrm>
          <a:custGeom>
            <a:avLst/>
            <a:gdLst/>
            <a:ahLst/>
            <a:cxnLst/>
            <a:rect l="l" t="t" r="r" b="b"/>
            <a:pathLst>
              <a:path w="3541959" h="788086">
                <a:moveTo>
                  <a:pt x="0" y="0"/>
                </a:moveTo>
                <a:lnTo>
                  <a:pt x="3541958" y="0"/>
                </a:lnTo>
                <a:lnTo>
                  <a:pt x="3541958" y="788085"/>
                </a:lnTo>
                <a:lnTo>
                  <a:pt x="0" y="7880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AutoShape 19">
            <a:extLst>
              <a:ext uri="{FF2B5EF4-FFF2-40B4-BE49-F238E27FC236}">
                <a16:creationId xmlns:a16="http://schemas.microsoft.com/office/drawing/2014/main" id="{D9F42262-E72B-67C0-B5A0-EF8AB3ABBA13}"/>
              </a:ext>
            </a:extLst>
          </p:cNvPr>
          <p:cNvSpPr/>
          <p:nvPr/>
        </p:nvSpPr>
        <p:spPr>
          <a:xfrm>
            <a:off x="14334313" y="6425502"/>
            <a:ext cx="2708881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19">
            <a:extLst>
              <a:ext uri="{FF2B5EF4-FFF2-40B4-BE49-F238E27FC236}">
                <a16:creationId xmlns:a16="http://schemas.microsoft.com/office/drawing/2014/main" id="{3BB7D7FB-4F40-B731-A7A2-25FA785F3F91}"/>
              </a:ext>
            </a:extLst>
          </p:cNvPr>
          <p:cNvSpPr/>
          <p:nvPr/>
        </p:nvSpPr>
        <p:spPr>
          <a:xfrm>
            <a:off x="16612535" y="9767887"/>
            <a:ext cx="1675465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19">
            <a:extLst>
              <a:ext uri="{FF2B5EF4-FFF2-40B4-BE49-F238E27FC236}">
                <a16:creationId xmlns:a16="http://schemas.microsoft.com/office/drawing/2014/main" id="{CF12B151-4891-D111-4DC8-62E4F9C68D7A}"/>
              </a:ext>
            </a:extLst>
          </p:cNvPr>
          <p:cNvSpPr/>
          <p:nvPr/>
        </p:nvSpPr>
        <p:spPr>
          <a:xfrm>
            <a:off x="4800600" y="1153937"/>
            <a:ext cx="7772400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H="1">
            <a:off x="3565072" y="1640519"/>
            <a:ext cx="11793338" cy="7474028"/>
          </a:xfrm>
          <a:custGeom>
            <a:avLst/>
            <a:gdLst/>
            <a:ahLst/>
            <a:cxnLst/>
            <a:rect l="l" t="t" r="r" b="b"/>
            <a:pathLst>
              <a:path w="11793338" h="7474028">
                <a:moveTo>
                  <a:pt x="11793339" y="0"/>
                </a:moveTo>
                <a:lnTo>
                  <a:pt x="0" y="0"/>
                </a:lnTo>
                <a:lnTo>
                  <a:pt x="0" y="7474029"/>
                </a:lnTo>
                <a:lnTo>
                  <a:pt x="11793339" y="7474029"/>
                </a:lnTo>
                <a:lnTo>
                  <a:pt x="11793339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19">
            <a:extLst>
              <a:ext uri="{FF2B5EF4-FFF2-40B4-BE49-F238E27FC236}">
                <a16:creationId xmlns:a16="http://schemas.microsoft.com/office/drawing/2014/main" id="{FCA752A7-C25F-D099-5235-C48882AFB451}"/>
              </a:ext>
            </a:extLst>
          </p:cNvPr>
          <p:cNvGrpSpPr/>
          <p:nvPr/>
        </p:nvGrpSpPr>
        <p:grpSpPr>
          <a:xfrm>
            <a:off x="9873841" y="3642334"/>
            <a:ext cx="7772400" cy="5635903"/>
            <a:chOff x="0" y="0"/>
            <a:chExt cx="812800" cy="532128"/>
          </a:xfrm>
        </p:grpSpPr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A2073509-462E-4E85-AB2F-33833036EFC8}"/>
                </a:ext>
              </a:extLst>
            </p:cNvPr>
            <p:cNvSpPr/>
            <p:nvPr/>
          </p:nvSpPr>
          <p:spPr>
            <a:xfrm>
              <a:off x="0" y="0"/>
              <a:ext cx="812800" cy="532128"/>
            </a:xfrm>
            <a:custGeom>
              <a:avLst/>
              <a:gdLst/>
              <a:ahLst/>
              <a:cxnLst/>
              <a:rect l="l" t="t" r="r" b="b"/>
              <a:pathLst>
                <a:path w="812800" h="532128">
                  <a:moveTo>
                    <a:pt x="0" y="0"/>
                  </a:moveTo>
                  <a:lnTo>
                    <a:pt x="812800" y="0"/>
                  </a:lnTo>
                  <a:lnTo>
                    <a:pt x="812800" y="532128"/>
                  </a:lnTo>
                  <a:lnTo>
                    <a:pt x="0" y="532128"/>
                  </a:lnTo>
                  <a:close/>
                </a:path>
              </a:pathLst>
            </a:custGeom>
            <a:solidFill>
              <a:srgbClr val="6AC4EA"/>
            </a:solidFill>
          </p:spPr>
        </p:sp>
        <p:sp>
          <p:nvSpPr>
            <p:cNvPr id="8" name="TextBox 21">
              <a:extLst>
                <a:ext uri="{FF2B5EF4-FFF2-40B4-BE49-F238E27FC236}">
                  <a16:creationId xmlns:a16="http://schemas.microsoft.com/office/drawing/2014/main" id="{B90A34C6-E80D-7448-BFD8-0D8B5118DCF4}"/>
                </a:ext>
              </a:extLst>
            </p:cNvPr>
            <p:cNvSpPr txBox="1"/>
            <p:nvPr/>
          </p:nvSpPr>
          <p:spPr>
            <a:xfrm>
              <a:off x="0" y="28575"/>
              <a:ext cx="812800" cy="503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1"/>
                </a:lnSpc>
              </a:pPr>
              <a:endParaRPr/>
            </a:p>
          </p:txBody>
        </p:sp>
      </p:grpSp>
      <p:grpSp>
        <p:nvGrpSpPr>
          <p:cNvPr id="25" name="Group 19">
            <a:extLst>
              <a:ext uri="{FF2B5EF4-FFF2-40B4-BE49-F238E27FC236}">
                <a16:creationId xmlns:a16="http://schemas.microsoft.com/office/drawing/2014/main" id="{8FF69AFF-7101-55B7-3D28-9D9B7878BA11}"/>
              </a:ext>
            </a:extLst>
          </p:cNvPr>
          <p:cNvGrpSpPr/>
          <p:nvPr/>
        </p:nvGrpSpPr>
        <p:grpSpPr>
          <a:xfrm>
            <a:off x="286618" y="1485901"/>
            <a:ext cx="7772400" cy="8458594"/>
            <a:chOff x="0" y="0"/>
            <a:chExt cx="812800" cy="532128"/>
          </a:xfrm>
        </p:grpSpPr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CEF62D0-E788-23A0-E254-F032CCE6BCBB}"/>
                </a:ext>
              </a:extLst>
            </p:cNvPr>
            <p:cNvSpPr/>
            <p:nvPr/>
          </p:nvSpPr>
          <p:spPr>
            <a:xfrm>
              <a:off x="0" y="0"/>
              <a:ext cx="812800" cy="532128"/>
            </a:xfrm>
            <a:custGeom>
              <a:avLst/>
              <a:gdLst/>
              <a:ahLst/>
              <a:cxnLst/>
              <a:rect l="l" t="t" r="r" b="b"/>
              <a:pathLst>
                <a:path w="812800" h="532128">
                  <a:moveTo>
                    <a:pt x="0" y="0"/>
                  </a:moveTo>
                  <a:lnTo>
                    <a:pt x="812800" y="0"/>
                  </a:lnTo>
                  <a:lnTo>
                    <a:pt x="812800" y="532128"/>
                  </a:lnTo>
                  <a:lnTo>
                    <a:pt x="0" y="532128"/>
                  </a:lnTo>
                  <a:close/>
                </a:path>
              </a:pathLst>
            </a:custGeom>
            <a:solidFill>
              <a:srgbClr val="6AC4EA"/>
            </a:solidFill>
          </p:spPr>
        </p:sp>
        <p:sp>
          <p:nvSpPr>
            <p:cNvPr id="27" name="TextBox 21">
              <a:extLst>
                <a:ext uri="{FF2B5EF4-FFF2-40B4-BE49-F238E27FC236}">
                  <a16:creationId xmlns:a16="http://schemas.microsoft.com/office/drawing/2014/main" id="{D3499F00-CBE7-B6A8-4D61-6D195DFB17B2}"/>
                </a:ext>
              </a:extLst>
            </p:cNvPr>
            <p:cNvSpPr txBox="1"/>
            <p:nvPr/>
          </p:nvSpPr>
          <p:spPr>
            <a:xfrm>
              <a:off x="0" y="28575"/>
              <a:ext cx="812800" cy="503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1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1817358" y="2671753"/>
            <a:ext cx="2127242" cy="11418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804023" y="9501518"/>
            <a:ext cx="2090841" cy="40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0983" y="672465"/>
            <a:ext cx="2744220" cy="35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YNOV CAMPUS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00600" y="342504"/>
            <a:ext cx="9753599" cy="88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sz="6500" dirty="0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Element$ du </a:t>
            </a:r>
            <a:r>
              <a:rPr lang="en-US" sz="6500" dirty="0" err="1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projet</a:t>
            </a:r>
            <a:endParaRPr lang="en-US" sz="6500" dirty="0">
              <a:solidFill>
                <a:srgbClr val="6AC4E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201400" y="3072612"/>
            <a:ext cx="5907093" cy="34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Cette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function nous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permet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92206" y="2358250"/>
            <a:ext cx="3566204" cy="31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Fonction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 main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28700" y="670229"/>
            <a:ext cx="501016" cy="483708"/>
          </a:xfrm>
          <a:custGeom>
            <a:avLst/>
            <a:gdLst/>
            <a:ahLst/>
            <a:cxnLst/>
            <a:rect l="l" t="t" r="r" b="b"/>
            <a:pathLst>
              <a:path w="501016" h="483708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AutoShape 19">
            <a:extLst>
              <a:ext uri="{FF2B5EF4-FFF2-40B4-BE49-F238E27FC236}">
                <a16:creationId xmlns:a16="http://schemas.microsoft.com/office/drawing/2014/main" id="{3BB7D7FB-4F40-B731-A7A2-25FA785F3F91}"/>
              </a:ext>
            </a:extLst>
          </p:cNvPr>
          <p:cNvSpPr/>
          <p:nvPr/>
        </p:nvSpPr>
        <p:spPr>
          <a:xfrm>
            <a:off x="16597572" y="9944495"/>
            <a:ext cx="1675465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19">
            <a:extLst>
              <a:ext uri="{FF2B5EF4-FFF2-40B4-BE49-F238E27FC236}">
                <a16:creationId xmlns:a16="http://schemas.microsoft.com/office/drawing/2014/main" id="{CF12B151-4891-D111-4DC8-62E4F9C68D7A}"/>
              </a:ext>
            </a:extLst>
          </p:cNvPr>
          <p:cNvSpPr/>
          <p:nvPr/>
        </p:nvSpPr>
        <p:spPr>
          <a:xfrm>
            <a:off x="4800600" y="1153937"/>
            <a:ext cx="7772400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" name="Image 3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FE5F9040-6293-5AF9-83AA-C50B7E2B93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56" y="1528551"/>
            <a:ext cx="7430537" cy="8314794"/>
          </a:xfrm>
          <a:prstGeom prst="rect">
            <a:avLst/>
          </a:prstGeom>
        </p:spPr>
      </p:pic>
      <p:sp>
        <p:nvSpPr>
          <p:cNvPr id="24" name="Freeform 5">
            <a:extLst>
              <a:ext uri="{FF2B5EF4-FFF2-40B4-BE49-F238E27FC236}">
                <a16:creationId xmlns:a16="http://schemas.microsoft.com/office/drawing/2014/main" id="{4E7C8EFE-06CA-1A4E-FCF3-E43695E7E917}"/>
              </a:ext>
            </a:extLst>
          </p:cNvPr>
          <p:cNvSpPr/>
          <p:nvPr/>
        </p:nvSpPr>
        <p:spPr>
          <a:xfrm>
            <a:off x="7810233" y="2601431"/>
            <a:ext cx="3541959" cy="788086"/>
          </a:xfrm>
          <a:custGeom>
            <a:avLst/>
            <a:gdLst/>
            <a:ahLst/>
            <a:cxnLst/>
            <a:rect l="l" t="t" r="r" b="b"/>
            <a:pathLst>
              <a:path w="3541959" h="788086">
                <a:moveTo>
                  <a:pt x="0" y="0"/>
                </a:moveTo>
                <a:lnTo>
                  <a:pt x="3541958" y="0"/>
                </a:lnTo>
                <a:lnTo>
                  <a:pt x="3541958" y="788085"/>
                </a:lnTo>
                <a:lnTo>
                  <a:pt x="0" y="7880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17" name="Image 1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384368AA-22C6-F1C9-5B96-1F438C4F6A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672" y="3785787"/>
            <a:ext cx="7524738" cy="532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11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19">
            <a:extLst>
              <a:ext uri="{FF2B5EF4-FFF2-40B4-BE49-F238E27FC236}">
                <a16:creationId xmlns:a16="http://schemas.microsoft.com/office/drawing/2014/main" id="{8FF69AFF-7101-55B7-3D28-9D9B7878BA11}"/>
              </a:ext>
            </a:extLst>
          </p:cNvPr>
          <p:cNvGrpSpPr/>
          <p:nvPr/>
        </p:nvGrpSpPr>
        <p:grpSpPr>
          <a:xfrm>
            <a:off x="286618" y="1485900"/>
            <a:ext cx="11981582" cy="8610599"/>
            <a:chOff x="0" y="0"/>
            <a:chExt cx="812800" cy="532128"/>
          </a:xfrm>
        </p:grpSpPr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CEF62D0-E788-23A0-E254-F032CCE6BCBB}"/>
                </a:ext>
              </a:extLst>
            </p:cNvPr>
            <p:cNvSpPr/>
            <p:nvPr/>
          </p:nvSpPr>
          <p:spPr>
            <a:xfrm>
              <a:off x="0" y="0"/>
              <a:ext cx="812800" cy="532128"/>
            </a:xfrm>
            <a:custGeom>
              <a:avLst/>
              <a:gdLst/>
              <a:ahLst/>
              <a:cxnLst/>
              <a:rect l="l" t="t" r="r" b="b"/>
              <a:pathLst>
                <a:path w="812800" h="532128">
                  <a:moveTo>
                    <a:pt x="0" y="0"/>
                  </a:moveTo>
                  <a:lnTo>
                    <a:pt x="812800" y="0"/>
                  </a:lnTo>
                  <a:lnTo>
                    <a:pt x="812800" y="532128"/>
                  </a:lnTo>
                  <a:lnTo>
                    <a:pt x="0" y="532128"/>
                  </a:lnTo>
                  <a:close/>
                </a:path>
              </a:pathLst>
            </a:custGeom>
            <a:solidFill>
              <a:srgbClr val="6AC4EA"/>
            </a:solidFill>
          </p:spPr>
        </p:sp>
        <p:sp>
          <p:nvSpPr>
            <p:cNvPr id="27" name="TextBox 21">
              <a:extLst>
                <a:ext uri="{FF2B5EF4-FFF2-40B4-BE49-F238E27FC236}">
                  <a16:creationId xmlns:a16="http://schemas.microsoft.com/office/drawing/2014/main" id="{D3499F00-CBE7-B6A8-4D61-6D195DFB17B2}"/>
                </a:ext>
              </a:extLst>
            </p:cNvPr>
            <p:cNvSpPr txBox="1"/>
            <p:nvPr/>
          </p:nvSpPr>
          <p:spPr>
            <a:xfrm>
              <a:off x="0" y="28575"/>
              <a:ext cx="812800" cy="503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1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3282004" y="1393845"/>
            <a:ext cx="3939196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610983" y="672465"/>
            <a:ext cx="2744220" cy="35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YNOV CAMPUS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00600" y="342504"/>
            <a:ext cx="9753599" cy="88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sz="6500" dirty="0" err="1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Elément</a:t>
            </a:r>
            <a:r>
              <a:rPr lang="en-US" sz="6500" dirty="0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$ du </a:t>
            </a:r>
            <a:r>
              <a:rPr lang="en-US" sz="6500" dirty="0" err="1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projet</a:t>
            </a:r>
            <a:endParaRPr lang="en-US" sz="6500" dirty="0">
              <a:solidFill>
                <a:srgbClr val="6AC4E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42665" y="1608159"/>
            <a:ext cx="4992936" cy="3320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Qui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composer de 3 variable </a:t>
            </a:r>
            <a:r>
              <a:rPr lang="en-US" sz="2100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(var)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-doss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entier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(int)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-nom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chaine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(string)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-perf reel </a:t>
            </a:r>
            <a:r>
              <a:rPr lang="en-US" sz="210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(float64)</a:t>
            </a: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40"/>
              </a:lnSpc>
            </a:pP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Cette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function nous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permet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: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Ajouter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le nom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complet</a:t>
            </a:r>
            <a:endParaRPr lang="en-US" sz="2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-Son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numero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dossard</a:t>
            </a:r>
            <a:endParaRPr lang="en-US" sz="2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Ses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performance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82004" y="1064369"/>
            <a:ext cx="4543398" cy="31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Fonction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ajouter_athlete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()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28700" y="670229"/>
            <a:ext cx="501016" cy="483708"/>
          </a:xfrm>
          <a:custGeom>
            <a:avLst/>
            <a:gdLst/>
            <a:ahLst/>
            <a:cxnLst/>
            <a:rect l="l" t="t" r="r" b="b"/>
            <a:pathLst>
              <a:path w="501016" h="483708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AutoShape 19">
            <a:extLst>
              <a:ext uri="{FF2B5EF4-FFF2-40B4-BE49-F238E27FC236}">
                <a16:creationId xmlns:a16="http://schemas.microsoft.com/office/drawing/2014/main" id="{CF12B151-4891-D111-4DC8-62E4F9C68D7A}"/>
              </a:ext>
            </a:extLst>
          </p:cNvPr>
          <p:cNvSpPr/>
          <p:nvPr/>
        </p:nvSpPr>
        <p:spPr>
          <a:xfrm>
            <a:off x="4800600" y="1153937"/>
            <a:ext cx="7772400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818C13A-4B2A-1376-5A5B-1D53B239C3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0" y="1608159"/>
            <a:ext cx="11612596" cy="4144941"/>
          </a:xfrm>
          <a:prstGeom prst="rect">
            <a:avLst/>
          </a:prstGeom>
        </p:spPr>
      </p:pic>
      <p:sp>
        <p:nvSpPr>
          <p:cNvPr id="24" name="Freeform 5">
            <a:extLst>
              <a:ext uri="{FF2B5EF4-FFF2-40B4-BE49-F238E27FC236}">
                <a16:creationId xmlns:a16="http://schemas.microsoft.com/office/drawing/2014/main" id="{4E7C8EFE-06CA-1A4E-FCF3-E43695E7E917}"/>
              </a:ext>
            </a:extLst>
          </p:cNvPr>
          <p:cNvSpPr/>
          <p:nvPr/>
        </p:nvSpPr>
        <p:spPr>
          <a:xfrm>
            <a:off x="9571135" y="1308271"/>
            <a:ext cx="3541959" cy="788086"/>
          </a:xfrm>
          <a:custGeom>
            <a:avLst/>
            <a:gdLst/>
            <a:ahLst/>
            <a:cxnLst/>
            <a:rect l="l" t="t" r="r" b="b"/>
            <a:pathLst>
              <a:path w="3541959" h="788086">
                <a:moveTo>
                  <a:pt x="0" y="0"/>
                </a:moveTo>
                <a:lnTo>
                  <a:pt x="3541958" y="0"/>
                </a:lnTo>
                <a:lnTo>
                  <a:pt x="3541958" y="788085"/>
                </a:lnTo>
                <a:lnTo>
                  <a:pt x="0" y="7880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C34AED2-3219-9608-BF29-BACA25A7A2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0" y="5794638"/>
            <a:ext cx="11612596" cy="4258269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ADA75F7E-5017-222E-CA60-5781020F4567}"/>
              </a:ext>
            </a:extLst>
          </p:cNvPr>
          <p:cNvSpPr/>
          <p:nvPr/>
        </p:nvSpPr>
        <p:spPr>
          <a:xfrm>
            <a:off x="9522231" y="6085062"/>
            <a:ext cx="3541959" cy="788086"/>
          </a:xfrm>
          <a:custGeom>
            <a:avLst/>
            <a:gdLst/>
            <a:ahLst/>
            <a:cxnLst/>
            <a:rect l="l" t="t" r="r" b="b"/>
            <a:pathLst>
              <a:path w="3541959" h="788086">
                <a:moveTo>
                  <a:pt x="0" y="0"/>
                </a:moveTo>
                <a:lnTo>
                  <a:pt x="3541958" y="0"/>
                </a:lnTo>
                <a:lnTo>
                  <a:pt x="3541958" y="788085"/>
                </a:lnTo>
                <a:lnTo>
                  <a:pt x="0" y="7880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18007DC2-C756-BB34-4223-3F9738B7539B}"/>
              </a:ext>
            </a:extLst>
          </p:cNvPr>
          <p:cNvSpPr txBox="1"/>
          <p:nvPr/>
        </p:nvSpPr>
        <p:spPr>
          <a:xfrm>
            <a:off x="13357118" y="5545707"/>
            <a:ext cx="4543398" cy="31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Fonction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afficher_liste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()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31CB77C5-8BE2-A9A7-F557-A5A48ACD5C44}"/>
              </a:ext>
            </a:extLst>
          </p:cNvPr>
          <p:cNvSpPr/>
          <p:nvPr/>
        </p:nvSpPr>
        <p:spPr>
          <a:xfrm>
            <a:off x="13358203" y="5859063"/>
            <a:ext cx="3405797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C37E3A-2697-4F6F-0A3B-C9BFCEA4B65C}"/>
              </a:ext>
            </a:extLst>
          </p:cNvPr>
          <p:cNvSpPr txBox="1"/>
          <p:nvPr/>
        </p:nvSpPr>
        <p:spPr>
          <a:xfrm>
            <a:off x="13167686" y="6263445"/>
            <a:ext cx="4992936" cy="3692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Pour la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liste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l’ adoption de la structure de boucle </a:t>
            </a:r>
            <a:r>
              <a:rPr lang="en-US" sz="2100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“for” </a:t>
            </a:r>
            <a:r>
              <a:rPr lang="en-US" sz="210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est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necessaire pour </a:t>
            </a:r>
            <a:r>
              <a:rPr lang="en-US" sz="210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parcourir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les athletes a travers le tableau.</a:t>
            </a: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Pour </a:t>
            </a:r>
            <a:r>
              <a:rPr lang="en-US" sz="210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imprimer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le </a:t>
            </a:r>
            <a:r>
              <a:rPr lang="en-US" sz="210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resultat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, on </a:t>
            </a:r>
            <a:r>
              <a:rPr lang="en-US" sz="210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utiliser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fmt.Printf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pour </a:t>
            </a:r>
            <a:r>
              <a:rPr lang="en-US" sz="210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formater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et les </a:t>
            </a:r>
            <a:r>
              <a:rPr lang="en-US" sz="210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afficher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du </a:t>
            </a:r>
            <a:r>
              <a:rPr lang="en-US" sz="210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facon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voulu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ex: %-5 pour </a:t>
            </a:r>
            <a:r>
              <a:rPr lang="en-US" sz="210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decaler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de 5 </a:t>
            </a:r>
            <a:r>
              <a:rPr lang="en-US" sz="210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chaine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10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caractere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de la gauche…….</a:t>
            </a:r>
            <a:endParaRPr lang="en-US" sz="2100" dirty="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743062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19">
            <a:extLst>
              <a:ext uri="{FF2B5EF4-FFF2-40B4-BE49-F238E27FC236}">
                <a16:creationId xmlns:a16="http://schemas.microsoft.com/office/drawing/2014/main" id="{8FF69AFF-7101-55B7-3D28-9D9B7878BA11}"/>
              </a:ext>
            </a:extLst>
          </p:cNvPr>
          <p:cNvGrpSpPr/>
          <p:nvPr/>
        </p:nvGrpSpPr>
        <p:grpSpPr>
          <a:xfrm>
            <a:off x="286618" y="1485900"/>
            <a:ext cx="11981582" cy="8610599"/>
            <a:chOff x="0" y="0"/>
            <a:chExt cx="812800" cy="532128"/>
          </a:xfrm>
        </p:grpSpPr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CEF62D0-E788-23A0-E254-F032CCE6BCBB}"/>
                </a:ext>
              </a:extLst>
            </p:cNvPr>
            <p:cNvSpPr/>
            <p:nvPr/>
          </p:nvSpPr>
          <p:spPr>
            <a:xfrm>
              <a:off x="0" y="0"/>
              <a:ext cx="812800" cy="532128"/>
            </a:xfrm>
            <a:custGeom>
              <a:avLst/>
              <a:gdLst/>
              <a:ahLst/>
              <a:cxnLst/>
              <a:rect l="l" t="t" r="r" b="b"/>
              <a:pathLst>
                <a:path w="812800" h="532128">
                  <a:moveTo>
                    <a:pt x="0" y="0"/>
                  </a:moveTo>
                  <a:lnTo>
                    <a:pt x="812800" y="0"/>
                  </a:lnTo>
                  <a:lnTo>
                    <a:pt x="812800" y="532128"/>
                  </a:lnTo>
                  <a:lnTo>
                    <a:pt x="0" y="532128"/>
                  </a:lnTo>
                  <a:close/>
                </a:path>
              </a:pathLst>
            </a:custGeom>
            <a:solidFill>
              <a:srgbClr val="6AC4EA"/>
            </a:solidFill>
          </p:spPr>
        </p:sp>
        <p:sp>
          <p:nvSpPr>
            <p:cNvPr id="27" name="TextBox 21">
              <a:extLst>
                <a:ext uri="{FF2B5EF4-FFF2-40B4-BE49-F238E27FC236}">
                  <a16:creationId xmlns:a16="http://schemas.microsoft.com/office/drawing/2014/main" id="{D3499F00-CBE7-B6A8-4D61-6D195DFB17B2}"/>
                </a:ext>
              </a:extLst>
            </p:cNvPr>
            <p:cNvSpPr txBox="1"/>
            <p:nvPr/>
          </p:nvSpPr>
          <p:spPr>
            <a:xfrm>
              <a:off x="0" y="28575"/>
              <a:ext cx="812800" cy="503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1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2966968" y="1197500"/>
            <a:ext cx="4992936" cy="20552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610983" y="672465"/>
            <a:ext cx="2744220" cy="35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YNOV CAMPUS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00600" y="342504"/>
            <a:ext cx="9753599" cy="88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sz="6500" dirty="0" err="1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Elément</a:t>
            </a:r>
            <a:r>
              <a:rPr lang="en-US" sz="6500" dirty="0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$ du </a:t>
            </a:r>
            <a:r>
              <a:rPr lang="en-US" sz="6500" dirty="0" err="1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projet</a:t>
            </a:r>
            <a:endParaRPr lang="en-US" sz="6500" dirty="0">
              <a:solidFill>
                <a:srgbClr val="6AC4E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42665" y="1608159"/>
            <a:ext cx="4992936" cy="3692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 a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créer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un nouveau variable </a:t>
            </a:r>
            <a:r>
              <a:rPr lang="en-US" sz="210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var “doss” 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pour comparer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l’athlete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rechercher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avec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l’athlete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dans le tableau.</a:t>
            </a:r>
          </a:p>
          <a:p>
            <a:pPr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Pour la recherche on a adopter la</a:t>
            </a:r>
          </a:p>
          <a:p>
            <a:pPr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structure de boucle </a:t>
            </a:r>
            <a:r>
              <a:rPr lang="en-US" sz="2100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“for” 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pour </a:t>
            </a:r>
            <a:r>
              <a:rPr lang="en-US" sz="210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parcourir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les athletes a travers le tableau l’ athlete[</a:t>
            </a:r>
            <a:r>
              <a:rPr lang="en-US" sz="210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] qui </a:t>
            </a:r>
            <a:r>
              <a:rPr lang="en-US" sz="210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est</a:t>
            </a:r>
            <a:r>
              <a:rPr lang="en-US" sz="21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“doss”</a:t>
            </a:r>
          </a:p>
          <a:p>
            <a:pPr>
              <a:lnSpc>
                <a:spcPts val="2940"/>
              </a:lnSpc>
            </a:pPr>
            <a:endParaRPr lang="en-US" sz="21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966968" y="805799"/>
            <a:ext cx="5310796" cy="31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Fonction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recherche_pardossard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()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28700" y="670229"/>
            <a:ext cx="501016" cy="483708"/>
          </a:xfrm>
          <a:custGeom>
            <a:avLst/>
            <a:gdLst/>
            <a:ahLst/>
            <a:cxnLst/>
            <a:rect l="l" t="t" r="r" b="b"/>
            <a:pathLst>
              <a:path w="501016" h="483708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AutoShape 19">
            <a:extLst>
              <a:ext uri="{FF2B5EF4-FFF2-40B4-BE49-F238E27FC236}">
                <a16:creationId xmlns:a16="http://schemas.microsoft.com/office/drawing/2014/main" id="{CF12B151-4891-D111-4DC8-62E4F9C68D7A}"/>
              </a:ext>
            </a:extLst>
          </p:cNvPr>
          <p:cNvSpPr/>
          <p:nvPr/>
        </p:nvSpPr>
        <p:spPr>
          <a:xfrm>
            <a:off x="4800600" y="1153937"/>
            <a:ext cx="7772400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18007DC2-C756-BB34-4223-3F9738B7539B}"/>
              </a:ext>
            </a:extLst>
          </p:cNvPr>
          <p:cNvSpPr txBox="1"/>
          <p:nvPr/>
        </p:nvSpPr>
        <p:spPr>
          <a:xfrm>
            <a:off x="13064190" y="5476356"/>
            <a:ext cx="5311882" cy="31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Fonction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recherche_parnom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()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31CB77C5-8BE2-A9A7-F557-A5A48ACD5C44}"/>
              </a:ext>
            </a:extLst>
          </p:cNvPr>
          <p:cNvSpPr/>
          <p:nvPr/>
        </p:nvSpPr>
        <p:spPr>
          <a:xfrm flipV="1">
            <a:off x="13064190" y="5789712"/>
            <a:ext cx="4538010" cy="49291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C37E3A-2697-4F6F-0A3B-C9BFCEA4B65C}"/>
              </a:ext>
            </a:extLst>
          </p:cNvPr>
          <p:cNvSpPr txBox="1"/>
          <p:nvPr/>
        </p:nvSpPr>
        <p:spPr>
          <a:xfrm>
            <a:off x="13167686" y="6263445"/>
            <a:ext cx="4992936" cy="1089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Meme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principe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pour la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fonction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dossard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sauf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qu’on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maintenant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un variable </a:t>
            </a:r>
            <a:r>
              <a:rPr lang="en-US" sz="210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“nom” 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 type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chaine</a:t>
            </a:r>
            <a:endParaRPr lang="en-US" sz="2100" dirty="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67F49FE-95B7-59E6-3872-E164B6A351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21" y="1608159"/>
            <a:ext cx="11631176" cy="8336337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ADA75F7E-5017-222E-CA60-5781020F4567}"/>
              </a:ext>
            </a:extLst>
          </p:cNvPr>
          <p:cNvSpPr/>
          <p:nvPr/>
        </p:nvSpPr>
        <p:spPr>
          <a:xfrm>
            <a:off x="9522231" y="6085062"/>
            <a:ext cx="3541959" cy="788086"/>
          </a:xfrm>
          <a:custGeom>
            <a:avLst/>
            <a:gdLst/>
            <a:ahLst/>
            <a:cxnLst/>
            <a:rect l="l" t="t" r="r" b="b"/>
            <a:pathLst>
              <a:path w="3541959" h="788086">
                <a:moveTo>
                  <a:pt x="0" y="0"/>
                </a:moveTo>
                <a:lnTo>
                  <a:pt x="3541958" y="0"/>
                </a:lnTo>
                <a:lnTo>
                  <a:pt x="3541958" y="788085"/>
                </a:lnTo>
                <a:lnTo>
                  <a:pt x="0" y="7880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4E7C8EFE-06CA-1A4E-FCF3-E43695E7E917}"/>
              </a:ext>
            </a:extLst>
          </p:cNvPr>
          <p:cNvSpPr/>
          <p:nvPr/>
        </p:nvSpPr>
        <p:spPr>
          <a:xfrm>
            <a:off x="9571135" y="1308271"/>
            <a:ext cx="3541959" cy="788086"/>
          </a:xfrm>
          <a:custGeom>
            <a:avLst/>
            <a:gdLst/>
            <a:ahLst/>
            <a:cxnLst/>
            <a:rect l="l" t="t" r="r" b="b"/>
            <a:pathLst>
              <a:path w="3541959" h="788086">
                <a:moveTo>
                  <a:pt x="0" y="0"/>
                </a:moveTo>
                <a:lnTo>
                  <a:pt x="3541958" y="0"/>
                </a:lnTo>
                <a:lnTo>
                  <a:pt x="3541958" y="788085"/>
                </a:lnTo>
                <a:lnTo>
                  <a:pt x="0" y="7880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358705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7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19">
            <a:extLst>
              <a:ext uri="{FF2B5EF4-FFF2-40B4-BE49-F238E27FC236}">
                <a16:creationId xmlns:a16="http://schemas.microsoft.com/office/drawing/2014/main" id="{8FF69AFF-7101-55B7-3D28-9D9B7878BA11}"/>
              </a:ext>
            </a:extLst>
          </p:cNvPr>
          <p:cNvGrpSpPr/>
          <p:nvPr/>
        </p:nvGrpSpPr>
        <p:grpSpPr>
          <a:xfrm>
            <a:off x="286618" y="1485900"/>
            <a:ext cx="11981582" cy="8610599"/>
            <a:chOff x="0" y="0"/>
            <a:chExt cx="812800" cy="532128"/>
          </a:xfrm>
        </p:grpSpPr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CEF62D0-E788-23A0-E254-F032CCE6BCBB}"/>
                </a:ext>
              </a:extLst>
            </p:cNvPr>
            <p:cNvSpPr/>
            <p:nvPr/>
          </p:nvSpPr>
          <p:spPr>
            <a:xfrm>
              <a:off x="0" y="0"/>
              <a:ext cx="812800" cy="532128"/>
            </a:xfrm>
            <a:custGeom>
              <a:avLst/>
              <a:gdLst/>
              <a:ahLst/>
              <a:cxnLst/>
              <a:rect l="l" t="t" r="r" b="b"/>
              <a:pathLst>
                <a:path w="812800" h="532128">
                  <a:moveTo>
                    <a:pt x="0" y="0"/>
                  </a:moveTo>
                  <a:lnTo>
                    <a:pt x="812800" y="0"/>
                  </a:lnTo>
                  <a:lnTo>
                    <a:pt x="812800" y="532128"/>
                  </a:lnTo>
                  <a:lnTo>
                    <a:pt x="0" y="532128"/>
                  </a:lnTo>
                  <a:close/>
                </a:path>
              </a:pathLst>
            </a:custGeom>
            <a:solidFill>
              <a:srgbClr val="6AC4EA"/>
            </a:solidFill>
          </p:spPr>
        </p:sp>
        <p:sp>
          <p:nvSpPr>
            <p:cNvPr id="27" name="TextBox 21">
              <a:extLst>
                <a:ext uri="{FF2B5EF4-FFF2-40B4-BE49-F238E27FC236}">
                  <a16:creationId xmlns:a16="http://schemas.microsoft.com/office/drawing/2014/main" id="{D3499F00-CBE7-B6A8-4D61-6D195DFB17B2}"/>
                </a:ext>
              </a:extLst>
            </p:cNvPr>
            <p:cNvSpPr txBox="1"/>
            <p:nvPr/>
          </p:nvSpPr>
          <p:spPr>
            <a:xfrm>
              <a:off x="0" y="28575"/>
              <a:ext cx="812800" cy="503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1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2966968" y="1197500"/>
            <a:ext cx="3644632" cy="20552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610983" y="672465"/>
            <a:ext cx="2744220" cy="35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YNOV CAMPUS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00600" y="342504"/>
            <a:ext cx="9753599" cy="88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sz="6500" dirty="0" err="1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Elément</a:t>
            </a:r>
            <a:r>
              <a:rPr lang="en-US" sz="6500" dirty="0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$ du </a:t>
            </a:r>
            <a:r>
              <a:rPr lang="en-US" sz="6500" dirty="0" err="1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projet</a:t>
            </a:r>
            <a:endParaRPr lang="en-US" sz="6500" dirty="0">
              <a:solidFill>
                <a:srgbClr val="6AC4E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966968" y="805799"/>
            <a:ext cx="5310796" cy="31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Fonction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tri_par_rang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()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28700" y="670229"/>
            <a:ext cx="501016" cy="483708"/>
          </a:xfrm>
          <a:custGeom>
            <a:avLst/>
            <a:gdLst/>
            <a:ahLst/>
            <a:cxnLst/>
            <a:rect l="l" t="t" r="r" b="b"/>
            <a:pathLst>
              <a:path w="501016" h="483708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AutoShape 19">
            <a:extLst>
              <a:ext uri="{FF2B5EF4-FFF2-40B4-BE49-F238E27FC236}">
                <a16:creationId xmlns:a16="http://schemas.microsoft.com/office/drawing/2014/main" id="{CF12B151-4891-D111-4DC8-62E4F9C68D7A}"/>
              </a:ext>
            </a:extLst>
          </p:cNvPr>
          <p:cNvSpPr/>
          <p:nvPr/>
        </p:nvSpPr>
        <p:spPr>
          <a:xfrm>
            <a:off x="4800600" y="1153937"/>
            <a:ext cx="7772400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18007DC2-C756-BB34-4223-3F9738B7539B}"/>
              </a:ext>
            </a:extLst>
          </p:cNvPr>
          <p:cNvSpPr txBox="1"/>
          <p:nvPr/>
        </p:nvSpPr>
        <p:spPr>
          <a:xfrm>
            <a:off x="13411200" y="4189310"/>
            <a:ext cx="5311882" cy="31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Fonction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afficherClassement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()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31CB77C5-8BE2-A9A7-F557-A5A48ACD5C44}"/>
              </a:ext>
            </a:extLst>
          </p:cNvPr>
          <p:cNvSpPr/>
          <p:nvPr/>
        </p:nvSpPr>
        <p:spPr>
          <a:xfrm flipV="1">
            <a:off x="13463372" y="4541294"/>
            <a:ext cx="4538010" cy="49291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C37E3A-2697-4F6F-0A3B-C9BFCEA4B65C}"/>
              </a:ext>
            </a:extLst>
          </p:cNvPr>
          <p:cNvSpPr txBox="1"/>
          <p:nvPr/>
        </p:nvSpPr>
        <p:spPr>
          <a:xfrm>
            <a:off x="13113094" y="4995962"/>
            <a:ext cx="4992936" cy="2576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Dans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cette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fonction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les </a:t>
            </a:r>
            <a:r>
              <a:rPr lang="en-US" sz="2100" dirty="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variables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rang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et </a:t>
            </a:r>
            <a:r>
              <a:rPr lang="en-US" sz="2100" dirty="0" err="1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compteur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sont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la representation du premiere athlete qui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etre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comparer et trier avec le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prochaine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athlete pour fixer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oui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non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ils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les memes performance pour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afficher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l’ex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-aequo  </a:t>
            </a:r>
            <a:endParaRPr lang="en-US" sz="2100" dirty="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7D545C-F1D5-0F19-F7D0-F9C5F722B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583837"/>
            <a:ext cx="11734800" cy="8411749"/>
          </a:xfrm>
          <a:prstGeom prst="rect">
            <a:avLst/>
          </a:prstGeom>
        </p:spPr>
      </p:pic>
      <p:sp>
        <p:nvSpPr>
          <p:cNvPr id="24" name="Freeform 5">
            <a:extLst>
              <a:ext uri="{FF2B5EF4-FFF2-40B4-BE49-F238E27FC236}">
                <a16:creationId xmlns:a16="http://schemas.microsoft.com/office/drawing/2014/main" id="{4E7C8EFE-06CA-1A4E-FCF3-E43695E7E917}"/>
              </a:ext>
            </a:extLst>
          </p:cNvPr>
          <p:cNvSpPr/>
          <p:nvPr/>
        </p:nvSpPr>
        <p:spPr>
          <a:xfrm>
            <a:off x="9571135" y="1308271"/>
            <a:ext cx="3541959" cy="788086"/>
          </a:xfrm>
          <a:custGeom>
            <a:avLst/>
            <a:gdLst/>
            <a:ahLst/>
            <a:cxnLst/>
            <a:rect l="l" t="t" r="r" b="b"/>
            <a:pathLst>
              <a:path w="3541959" h="788086">
                <a:moveTo>
                  <a:pt x="0" y="0"/>
                </a:moveTo>
                <a:lnTo>
                  <a:pt x="3541958" y="0"/>
                </a:lnTo>
                <a:lnTo>
                  <a:pt x="3541958" y="788085"/>
                </a:lnTo>
                <a:lnTo>
                  <a:pt x="0" y="7880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4EA048FD-466E-18CA-C820-42E52810FF9D}"/>
              </a:ext>
            </a:extLst>
          </p:cNvPr>
          <p:cNvSpPr/>
          <p:nvPr/>
        </p:nvSpPr>
        <p:spPr>
          <a:xfrm rot="10800000" flipV="1">
            <a:off x="10333406" y="3836771"/>
            <a:ext cx="2633562" cy="753813"/>
          </a:xfrm>
          <a:custGeom>
            <a:avLst/>
            <a:gdLst/>
            <a:ahLst/>
            <a:cxnLst/>
            <a:rect l="l" t="t" r="r" b="b"/>
            <a:pathLst>
              <a:path w="2843379" h="632652">
                <a:moveTo>
                  <a:pt x="0" y="632651"/>
                </a:moveTo>
                <a:lnTo>
                  <a:pt x="2843379" y="632651"/>
                </a:lnTo>
                <a:lnTo>
                  <a:pt x="2843379" y="0"/>
                </a:lnTo>
                <a:lnTo>
                  <a:pt x="0" y="0"/>
                </a:lnTo>
                <a:lnTo>
                  <a:pt x="0" y="63265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CC7B6B98-51FA-58F0-7995-F1497C86903D}"/>
              </a:ext>
            </a:extLst>
          </p:cNvPr>
          <p:cNvSpPr txBox="1"/>
          <p:nvPr/>
        </p:nvSpPr>
        <p:spPr>
          <a:xfrm>
            <a:off x="13031192" y="1764763"/>
            <a:ext cx="4992936" cy="1461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Creation d’un boucle </a:t>
            </a:r>
            <a:r>
              <a:rPr lang="en-US" sz="2100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“for”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principale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 pour la comparer avec un boucle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secondaire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(j) pour comparer le plus petit au plus grand</a:t>
            </a:r>
            <a:endParaRPr lang="en-US" sz="2100" dirty="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425800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/>
      <p:bldP spid="14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19">
            <a:extLst>
              <a:ext uri="{FF2B5EF4-FFF2-40B4-BE49-F238E27FC236}">
                <a16:creationId xmlns:a16="http://schemas.microsoft.com/office/drawing/2014/main" id="{8FF69AFF-7101-55B7-3D28-9D9B7878BA11}"/>
              </a:ext>
            </a:extLst>
          </p:cNvPr>
          <p:cNvGrpSpPr/>
          <p:nvPr/>
        </p:nvGrpSpPr>
        <p:grpSpPr>
          <a:xfrm>
            <a:off x="286618" y="1485901"/>
            <a:ext cx="11371982" cy="8458594"/>
            <a:chOff x="0" y="0"/>
            <a:chExt cx="812800" cy="532128"/>
          </a:xfrm>
        </p:grpSpPr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CEF62D0-E788-23A0-E254-F032CCE6BCBB}"/>
                </a:ext>
              </a:extLst>
            </p:cNvPr>
            <p:cNvSpPr/>
            <p:nvPr/>
          </p:nvSpPr>
          <p:spPr>
            <a:xfrm>
              <a:off x="0" y="0"/>
              <a:ext cx="812800" cy="532128"/>
            </a:xfrm>
            <a:custGeom>
              <a:avLst/>
              <a:gdLst/>
              <a:ahLst/>
              <a:cxnLst/>
              <a:rect l="l" t="t" r="r" b="b"/>
              <a:pathLst>
                <a:path w="812800" h="532128">
                  <a:moveTo>
                    <a:pt x="0" y="0"/>
                  </a:moveTo>
                  <a:lnTo>
                    <a:pt x="812800" y="0"/>
                  </a:lnTo>
                  <a:lnTo>
                    <a:pt x="812800" y="532128"/>
                  </a:lnTo>
                  <a:lnTo>
                    <a:pt x="0" y="532128"/>
                  </a:lnTo>
                  <a:close/>
                </a:path>
              </a:pathLst>
            </a:custGeom>
            <a:solidFill>
              <a:srgbClr val="6AC4EA"/>
            </a:solidFill>
          </p:spPr>
        </p:sp>
        <p:sp>
          <p:nvSpPr>
            <p:cNvPr id="27" name="TextBox 21">
              <a:extLst>
                <a:ext uri="{FF2B5EF4-FFF2-40B4-BE49-F238E27FC236}">
                  <a16:creationId xmlns:a16="http://schemas.microsoft.com/office/drawing/2014/main" id="{D3499F00-CBE7-B6A8-4D61-6D195DFB17B2}"/>
                </a:ext>
              </a:extLst>
            </p:cNvPr>
            <p:cNvSpPr txBox="1"/>
            <p:nvPr/>
          </p:nvSpPr>
          <p:spPr>
            <a:xfrm>
              <a:off x="0" y="28575"/>
              <a:ext cx="812800" cy="503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1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3716000" y="2324100"/>
            <a:ext cx="3566204" cy="11418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855096" y="9278237"/>
            <a:ext cx="2090841" cy="40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11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0983" y="672465"/>
            <a:ext cx="2744220" cy="35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YNOV CAMPUS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00600" y="342504"/>
            <a:ext cx="9753599" cy="88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sz="6500" dirty="0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Element$ du </a:t>
            </a:r>
            <a:r>
              <a:rPr lang="en-US" sz="6500" dirty="0" err="1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projet</a:t>
            </a:r>
            <a:endParaRPr lang="en-US" sz="6500" dirty="0">
              <a:solidFill>
                <a:srgbClr val="6AC4E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411200" y="2618344"/>
            <a:ext cx="4590183" cy="3692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Cette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function nous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permet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: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-De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sauvegarder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le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resultat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du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classement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dans un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fichier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txt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L’utilisation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du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librairie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>
                <a:solidFill>
                  <a:schemeClr val="accent6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lang="en-US" sz="2100" dirty="0" err="1">
                <a:solidFill>
                  <a:schemeClr val="accent6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os</a:t>
            </a:r>
            <a:r>
              <a:rPr lang="en-US" sz="2100" dirty="0">
                <a:solidFill>
                  <a:schemeClr val="accent6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” 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et </a:t>
            </a:r>
            <a:r>
              <a:rPr lang="en-US" sz="2100" dirty="0">
                <a:solidFill>
                  <a:schemeClr val="accent6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lang="en-US" sz="2100" dirty="0" err="1">
                <a:solidFill>
                  <a:schemeClr val="accent6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strconv</a:t>
            </a:r>
            <a:r>
              <a:rPr lang="en-US" sz="2100" dirty="0">
                <a:solidFill>
                  <a:schemeClr val="accent6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” 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nous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permet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convertir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les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entiers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et les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reelle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chaine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caractere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pour ensuite le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sauvegarder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dans un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fichier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txt.</a:t>
            </a: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716000" y="1940123"/>
            <a:ext cx="3566204" cy="31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Fonction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299" b="1" dirty="0" err="1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sauvegarde</a:t>
            </a:r>
            <a:r>
              <a:rPr lang="en-US" sz="2299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():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28700" y="670229"/>
            <a:ext cx="501016" cy="483708"/>
          </a:xfrm>
          <a:custGeom>
            <a:avLst/>
            <a:gdLst/>
            <a:ahLst/>
            <a:cxnLst/>
            <a:rect l="l" t="t" r="r" b="b"/>
            <a:pathLst>
              <a:path w="501016" h="483708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AutoShape 19">
            <a:extLst>
              <a:ext uri="{FF2B5EF4-FFF2-40B4-BE49-F238E27FC236}">
                <a16:creationId xmlns:a16="http://schemas.microsoft.com/office/drawing/2014/main" id="{3BB7D7FB-4F40-B731-A7A2-25FA785F3F91}"/>
              </a:ext>
            </a:extLst>
          </p:cNvPr>
          <p:cNvSpPr/>
          <p:nvPr/>
        </p:nvSpPr>
        <p:spPr>
          <a:xfrm>
            <a:off x="16612535" y="9767887"/>
            <a:ext cx="1675465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19">
            <a:extLst>
              <a:ext uri="{FF2B5EF4-FFF2-40B4-BE49-F238E27FC236}">
                <a16:creationId xmlns:a16="http://schemas.microsoft.com/office/drawing/2014/main" id="{CF12B151-4891-D111-4DC8-62E4F9C68D7A}"/>
              </a:ext>
            </a:extLst>
          </p:cNvPr>
          <p:cNvSpPr/>
          <p:nvPr/>
        </p:nvSpPr>
        <p:spPr>
          <a:xfrm>
            <a:off x="4800600" y="1153937"/>
            <a:ext cx="7772400" cy="0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9" name="Image 8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E17ACBCB-4F56-AE3A-0203-F3B0A6CE8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518"/>
            <a:ext cx="11079121" cy="8153684"/>
          </a:xfrm>
          <a:prstGeom prst="rect">
            <a:avLst/>
          </a:prstGeom>
        </p:spPr>
      </p:pic>
      <p:sp>
        <p:nvSpPr>
          <p:cNvPr id="24" name="Freeform 5">
            <a:extLst>
              <a:ext uri="{FF2B5EF4-FFF2-40B4-BE49-F238E27FC236}">
                <a16:creationId xmlns:a16="http://schemas.microsoft.com/office/drawing/2014/main" id="{4E7C8EFE-06CA-1A4E-FCF3-E43695E7E917}"/>
              </a:ext>
            </a:extLst>
          </p:cNvPr>
          <p:cNvSpPr/>
          <p:nvPr/>
        </p:nvSpPr>
        <p:spPr>
          <a:xfrm>
            <a:off x="9677399" y="2552700"/>
            <a:ext cx="3541959" cy="788086"/>
          </a:xfrm>
          <a:custGeom>
            <a:avLst/>
            <a:gdLst/>
            <a:ahLst/>
            <a:cxnLst/>
            <a:rect l="l" t="t" r="r" b="b"/>
            <a:pathLst>
              <a:path w="3541959" h="788086">
                <a:moveTo>
                  <a:pt x="0" y="0"/>
                </a:moveTo>
                <a:lnTo>
                  <a:pt x="3541958" y="0"/>
                </a:lnTo>
                <a:lnTo>
                  <a:pt x="3541958" y="788085"/>
                </a:lnTo>
                <a:lnTo>
                  <a:pt x="0" y="7880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032746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424597" y="-2330528"/>
            <a:ext cx="11793338" cy="7474028"/>
          </a:xfrm>
          <a:custGeom>
            <a:avLst/>
            <a:gdLst/>
            <a:ahLst/>
            <a:cxnLst/>
            <a:rect l="l" t="t" r="r" b="b"/>
            <a:pathLst>
              <a:path w="11793338" h="7474028">
                <a:moveTo>
                  <a:pt x="0" y="0"/>
                </a:moveTo>
                <a:lnTo>
                  <a:pt x="11793338" y="0"/>
                </a:lnTo>
                <a:lnTo>
                  <a:pt x="11793338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78206" y="2630709"/>
            <a:ext cx="8483638" cy="88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sz="6500" b="1" dirty="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MERCI A VOUS!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78206" y="5505843"/>
            <a:ext cx="7365794" cy="34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Simulation d’un course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d’Athlétisme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Projet</a:t>
            </a: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Go 2025</a:t>
            </a:r>
          </a:p>
        </p:txBody>
      </p:sp>
      <p:sp>
        <p:nvSpPr>
          <p:cNvPr id="5" name="Freeform 5"/>
          <p:cNvSpPr/>
          <p:nvPr/>
        </p:nvSpPr>
        <p:spPr>
          <a:xfrm>
            <a:off x="1768681" y="7309576"/>
            <a:ext cx="2675389" cy="899904"/>
          </a:xfrm>
          <a:custGeom>
            <a:avLst/>
            <a:gdLst/>
            <a:ahLst/>
            <a:cxnLst/>
            <a:rect l="l" t="t" r="r" b="b"/>
            <a:pathLst>
              <a:path w="2675389" h="899904">
                <a:moveTo>
                  <a:pt x="0" y="0"/>
                </a:moveTo>
                <a:lnTo>
                  <a:pt x="2675389" y="0"/>
                </a:lnTo>
                <a:lnTo>
                  <a:pt x="2675389" y="899904"/>
                </a:lnTo>
                <a:lnTo>
                  <a:pt x="0" y="899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162800" y="1331230"/>
            <a:ext cx="11793338" cy="7474028"/>
          </a:xfrm>
          <a:custGeom>
            <a:avLst/>
            <a:gdLst/>
            <a:ahLst/>
            <a:cxnLst/>
            <a:rect l="l" t="t" r="r" b="b"/>
            <a:pathLst>
              <a:path w="11793338" h="7474028">
                <a:moveTo>
                  <a:pt x="0" y="0"/>
                </a:moveTo>
                <a:lnTo>
                  <a:pt x="11793339" y="0"/>
                </a:lnTo>
                <a:lnTo>
                  <a:pt x="11793339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426612" y="2103059"/>
            <a:ext cx="7572419" cy="6557373"/>
            <a:chOff x="0" y="0"/>
            <a:chExt cx="4282440" cy="3708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610982" y="672465"/>
            <a:ext cx="4713617" cy="34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YNOV CAMPUS CASABLANCA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8206" y="5068244"/>
            <a:ext cx="4289761" cy="31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dirty="0">
                <a:solidFill>
                  <a:srgbClr val="6AC4EA"/>
                </a:solidFill>
                <a:latin typeface="Poppins"/>
                <a:ea typeface="Poppins"/>
                <a:cs typeface="Poppins"/>
                <a:sym typeface="Poppins"/>
              </a:rPr>
              <a:t>SITRAKA &amp; SAAD ZAHRANE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72087" y="7514656"/>
            <a:ext cx="2090841" cy="56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sz="2100" i="1" dirty="0" err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Année</a:t>
            </a:r>
            <a:r>
              <a:rPr lang="en-US" sz="2100" i="1" dirty="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100" i="1" dirty="0" err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scolaire</a:t>
            </a:r>
            <a:r>
              <a:rPr lang="en-US" sz="2100" i="1" dirty="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2025-2026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28700" y="670229"/>
            <a:ext cx="501016" cy="483708"/>
          </a:xfrm>
          <a:custGeom>
            <a:avLst/>
            <a:gdLst/>
            <a:ahLst/>
            <a:cxnLst/>
            <a:rect l="l" t="t" r="r" b="b"/>
            <a:pathLst>
              <a:path w="501016" h="483708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20" name="Image 19" descr="Une image contenant Police, texte, blanc, Graphique&#10;&#10;Le contenu généré par l’IA peut être incorrect.">
            <a:extLst>
              <a:ext uri="{FF2B5EF4-FFF2-40B4-BE49-F238E27FC236}">
                <a16:creationId xmlns:a16="http://schemas.microsoft.com/office/drawing/2014/main" id="{7FF0D0C9-D6B6-C5A3-0A68-806A32BEE4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845" y="3158159"/>
            <a:ext cx="4663955" cy="4663955"/>
          </a:xfrm>
          <a:prstGeom prst="rect">
            <a:avLst/>
          </a:prstGeom>
        </p:spPr>
      </p:pic>
      <p:pic>
        <p:nvPicPr>
          <p:cNvPr id="22" name="Graphique 21" descr="Curseur avec un remplissage uni">
            <a:extLst>
              <a:ext uri="{FF2B5EF4-FFF2-40B4-BE49-F238E27FC236}">
                <a16:creationId xmlns:a16="http://schemas.microsoft.com/office/drawing/2014/main" id="{2C7A38FB-462E-BC7A-85EB-1114E34862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1588845">
            <a:off x="11251994" y="977326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12" dur="1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662</Words>
  <Application>Microsoft Office PowerPoint</Application>
  <PresentationFormat>Personnalisé</PresentationFormat>
  <Paragraphs>97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0" baseType="lpstr">
      <vt:lpstr>Poppins Italics</vt:lpstr>
      <vt:lpstr>Poppins Semi-Bold</vt:lpstr>
      <vt:lpstr>Poppins</vt:lpstr>
      <vt:lpstr>Montserrat</vt:lpstr>
      <vt:lpstr>Poppins Bold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Lovaniaina Sitraka Randriamanantenasoa</dc:creator>
  <cp:lastModifiedBy>Lovaniaina Sitraka Randriamanantenasoa</cp:lastModifiedBy>
  <cp:revision>3</cp:revision>
  <dcterms:created xsi:type="dcterms:W3CDTF">2006-08-16T00:00:00Z</dcterms:created>
  <dcterms:modified xsi:type="dcterms:W3CDTF">2025-11-18T18:41:29Z</dcterms:modified>
  <dc:identifier>DAG5C83XA0U</dc:identifier>
</cp:coreProperties>
</file>